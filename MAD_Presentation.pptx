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3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903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03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3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4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4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4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4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4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3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90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1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2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3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4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5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586" name="Shape 10"/>
          <p:cNvSpPr/>
          <p:nvPr/>
        </p:nvSpPr>
        <p:spPr>
          <a:xfrm>
            <a:off x="-4572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87" name="Shape 11"/>
          <p:cNvSpPr/>
          <p:nvPr/>
        </p:nvSpPr>
        <p:spPr>
          <a:xfrm>
            <a:off x="9144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88" name="Shape 12"/>
          <p:cNvSpPr/>
          <p:nvPr/>
        </p:nvSpPr>
        <p:spPr>
          <a:xfrm>
            <a:off x="22860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89" name="Shape 13"/>
          <p:cNvSpPr/>
          <p:nvPr/>
        </p:nvSpPr>
        <p:spPr>
          <a:xfrm>
            <a:off x="36576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90" name="Shape 14"/>
          <p:cNvSpPr/>
          <p:nvPr/>
        </p:nvSpPr>
        <p:spPr>
          <a:xfrm>
            <a:off x="50292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91" name="Shape 15"/>
          <p:cNvSpPr/>
          <p:nvPr/>
        </p:nvSpPr>
        <p:spPr>
          <a:xfrm>
            <a:off x="64008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92" name="Shape 16"/>
          <p:cNvSpPr/>
          <p:nvPr/>
        </p:nvSpPr>
        <p:spPr>
          <a:xfrm>
            <a:off x="77724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93" name="Shape 17"/>
          <p:cNvSpPr/>
          <p:nvPr/>
        </p:nvSpPr>
        <p:spPr>
          <a:xfrm>
            <a:off x="9144000" y="0"/>
            <a:ext cx="1097280" cy="5143500"/>
          </a:xfrm>
          <a:prstGeom prst="line"/>
          <a:noFill/>
          <a:ln w="5080">
            <a:solidFill>
              <a:srgbClr val="FF6D00">
                <a:alpha val="20000"/>
              </a:srgbClr>
            </a:solidFill>
            <a:prstDash val="solid"/>
          </a:ln>
        </p:spPr>
      </p:sp>
      <p:sp>
        <p:nvSpPr>
          <p:cNvPr id="1048594" name="Shape 18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595" name="Shape 19"/>
          <p:cNvSpPr/>
          <p:nvPr/>
        </p:nvSpPr>
        <p:spPr>
          <a:xfrm>
            <a:off x="8979408" y="0"/>
            <a:ext cx="164592" cy="514350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596" name="Shape 20"/>
          <p:cNvSpPr/>
          <p:nvPr/>
        </p:nvSpPr>
        <p:spPr>
          <a:xfrm>
            <a:off x="640080" y="2560320"/>
            <a:ext cx="822960" cy="822960"/>
          </a:xfrm>
          <a:prstGeom prst="ellipse"/>
          <a:solidFill>
            <a:srgbClr val="222222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1048597" name="Shape 21"/>
          <p:cNvSpPr/>
          <p:nvPr/>
        </p:nvSpPr>
        <p:spPr>
          <a:xfrm>
            <a:off x="640080" y="2560320"/>
            <a:ext cx="822960" cy="822960"/>
          </a:xfrm>
          <a:prstGeom prst="ellipse"/>
          <a:solidFill>
            <a:srgbClr val="000000">
              <a:alpha val="0"/>
            </a:srgbClr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48598" name="Shape 22"/>
          <p:cNvSpPr/>
          <p:nvPr/>
        </p:nvSpPr>
        <p:spPr>
          <a:xfrm>
            <a:off x="2011680" y="2560320"/>
            <a:ext cx="822960" cy="822960"/>
          </a:xfrm>
          <a:prstGeom prst="ellipse"/>
          <a:solidFill>
            <a:srgbClr val="222222"/>
          </a:solidFill>
          <a:ln w="25400">
            <a:solidFill>
              <a:srgbClr val="444444"/>
            </a:solidFill>
            <a:prstDash val="solid"/>
          </a:ln>
        </p:spPr>
      </p:sp>
      <p:sp>
        <p:nvSpPr>
          <p:cNvPr id="1048599" name="Shape 23"/>
          <p:cNvSpPr/>
          <p:nvPr/>
        </p:nvSpPr>
        <p:spPr>
          <a:xfrm>
            <a:off x="822960" y="2103120"/>
            <a:ext cx="1645920" cy="50292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00" name="Shape 24"/>
          <p:cNvSpPr/>
          <p:nvPr/>
        </p:nvSpPr>
        <p:spPr>
          <a:xfrm>
            <a:off x="1097280" y="1554480"/>
            <a:ext cx="914400" cy="685800"/>
          </a:xfrm>
          <a:prstGeom prst="ellipse"/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48601" name="Shape 25"/>
          <p:cNvSpPr/>
          <p:nvPr/>
        </p:nvSpPr>
        <p:spPr>
          <a:xfrm>
            <a:off x="1280160" y="1097280"/>
            <a:ext cx="502920" cy="594360"/>
          </a:xfrm>
          <a:prstGeom prst="ellipse"/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48602" name="Shape 26"/>
          <p:cNvSpPr/>
          <p:nvPr/>
        </p:nvSpPr>
        <p:spPr>
          <a:xfrm>
            <a:off x="1325880" y="868680"/>
            <a:ext cx="411480" cy="384048"/>
          </a:xfrm>
          <a:prstGeom prst="ellipse"/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48603" name="Shape 27"/>
          <p:cNvSpPr/>
          <p:nvPr/>
        </p:nvSpPr>
        <p:spPr>
          <a:xfrm>
            <a:off x="2514600" y="2286000"/>
            <a:ext cx="274320" cy="182880"/>
          </a:xfrm>
          <a:prstGeom prst="ellipse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604" name="Shape 28"/>
          <p:cNvSpPr/>
          <p:nvPr/>
        </p:nvSpPr>
        <p:spPr>
          <a:xfrm>
            <a:off x="274320" y="2834640"/>
            <a:ext cx="411480" cy="182880"/>
          </a:xfrm>
          <a:prstGeom prst="ellipse"/>
          <a:solidFill>
            <a:srgbClr val="FF6D00">
              <a:alpha val="7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05" name="Shape 29"/>
          <p:cNvSpPr/>
          <p:nvPr/>
        </p:nvSpPr>
        <p:spPr>
          <a:xfrm>
            <a:off x="274320" y="3383280"/>
            <a:ext cx="2926080" cy="73152"/>
          </a:xfrm>
          <a:prstGeom prst="rect"/>
          <a:solidFill>
            <a:srgbClr val="FF6D00">
              <a:alpha val="40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06" name="Text 30"/>
          <p:cNvSpPr/>
          <p:nvPr/>
        </p:nvSpPr>
        <p:spPr>
          <a:xfrm>
            <a:off x="3474720" y="822960"/>
            <a:ext cx="5303520" cy="1188720"/>
          </a:xfrm>
          <a:prstGeom prst="rect"/>
          <a:noFill/>
        </p:spPr>
        <p:txBody>
          <a:bodyPr anchor="b" rtlCol="0" wrap="square"/>
          <a:p>
            <a:pPr algn="l" indent="0" marL="0">
              <a:buNone/>
            </a:pPr>
            <a:r>
              <a:rPr b="1" dirty="0" sz="8000" kern="0" lang="en-US" spc="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</a:t>
            </a:r>
            <a:endParaRPr dirty="0" sz="8000" lang="en-US"/>
          </a:p>
        </p:txBody>
      </p:sp>
      <p:sp>
        <p:nvSpPr>
          <p:cNvPr id="1048607" name="Text 31"/>
          <p:cNvSpPr/>
          <p:nvPr/>
        </p:nvSpPr>
        <p:spPr>
          <a:xfrm>
            <a:off x="3474720" y="1645920"/>
            <a:ext cx="5303520" cy="1188720"/>
          </a:xfrm>
          <a:prstGeom prst="rect"/>
          <a:noFill/>
        </p:spPr>
        <p:txBody>
          <a:bodyPr anchor="t" rtlCol="0" wrap="square"/>
          <a:p>
            <a:pPr algn="l" indent="0" marL="0">
              <a:buNone/>
            </a:pPr>
            <a:r>
              <a:rPr b="1" dirty="0" sz="8000" kern="0" lang="en-US" spc="80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RUSH</a:t>
            </a:r>
            <a:endParaRPr dirty="0" sz="8000" lang="en-US"/>
          </a:p>
        </p:txBody>
      </p:sp>
      <p:sp>
        <p:nvSpPr>
          <p:cNvPr id="1048608" name="Text 32"/>
          <p:cNvSpPr/>
          <p:nvPr/>
        </p:nvSpPr>
        <p:spPr>
          <a:xfrm>
            <a:off x="3474720" y="2743200"/>
            <a:ext cx="5029200" cy="41148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b="1" dirty="0" sz="1400" kern="0" lang="en-US" spc="6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EVERYTHING</a:t>
            </a:r>
            <a:endParaRPr dirty="0" sz="1400" lang="en-US"/>
          </a:p>
        </p:txBody>
      </p:sp>
      <p:sp>
        <p:nvSpPr>
          <p:cNvPr id="1048609" name="Text 33"/>
          <p:cNvSpPr/>
          <p:nvPr/>
        </p:nvSpPr>
        <p:spPr>
          <a:xfrm>
            <a:off x="3474720" y="3200400"/>
            <a:ext cx="5303520" cy="365760"/>
          </a:xfrm>
          <a:prstGeom prst="rect"/>
          <a:noFill/>
        </p:spPr>
        <p:txBody>
          <a:bodyPr anchor="ctr" rtlCol="0" wrap="square"/>
          <a:p>
            <a:pPr algn="l" indent="0" marL="0">
              <a:buNone/>
            </a:pPr>
            <a:r>
              <a:rPr dirty="0" sz="1300" lang="en-US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Bike Racing Game  |  Java + Android Studio</a:t>
            </a:r>
            <a:endParaRPr dirty="0" sz="1300" lang="en-US"/>
          </a:p>
        </p:txBody>
      </p:sp>
      <p:sp>
        <p:nvSpPr>
          <p:cNvPr id="1048610" name="Shape 34"/>
          <p:cNvSpPr/>
          <p:nvPr/>
        </p:nvSpPr>
        <p:spPr>
          <a:xfrm>
            <a:off x="0" y="4663440"/>
            <a:ext cx="9144000" cy="480060"/>
          </a:xfrm>
          <a:prstGeom prst="rect"/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48611" name="Text 35"/>
          <p:cNvSpPr/>
          <p:nvPr/>
        </p:nvSpPr>
        <p:spPr>
          <a:xfrm>
            <a:off x="274320" y="4663440"/>
            <a:ext cx="8595360" cy="4800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00" lang="en-US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Project  |  Computer Science Department</a:t>
            </a:r>
            <a:endParaRPr dirty="0" sz="11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16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17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18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19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0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1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2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3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4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25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26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OVERVIEW</a:t>
            </a:r>
            <a:endParaRPr dirty="0" sz="1000" lang="en-US"/>
          </a:p>
        </p:txBody>
      </p:sp>
      <p:sp>
        <p:nvSpPr>
          <p:cNvPr id="1048627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dirty="0" sz="3600" lang="en-US"/>
          </a:p>
        </p:txBody>
      </p:sp>
      <p:sp>
        <p:nvSpPr>
          <p:cNvPr id="1048628" name="Shape 13"/>
          <p:cNvSpPr/>
          <p:nvPr/>
        </p:nvSpPr>
        <p:spPr>
          <a:xfrm>
            <a:off x="365760" y="1417320"/>
            <a:ext cx="4114800" cy="1417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629" name="Shape 14"/>
          <p:cNvSpPr/>
          <p:nvPr/>
        </p:nvSpPr>
        <p:spPr>
          <a:xfrm>
            <a:off x="365760" y="1417320"/>
            <a:ext cx="45720" cy="141732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30" name="Text 15"/>
          <p:cNvSpPr/>
          <p:nvPr/>
        </p:nvSpPr>
        <p:spPr>
          <a:xfrm>
            <a:off x="502920" y="1645920"/>
            <a:ext cx="64008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🎮</a:t>
            </a:r>
            <a:endParaRPr dirty="0" sz="2800" lang="en-US"/>
          </a:p>
        </p:txBody>
      </p:sp>
      <p:sp>
        <p:nvSpPr>
          <p:cNvPr id="1048631" name="Text 16"/>
          <p:cNvSpPr/>
          <p:nvPr/>
        </p:nvSpPr>
        <p:spPr>
          <a:xfrm>
            <a:off x="1143000" y="155448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Type</a:t>
            </a:r>
            <a:endParaRPr dirty="0" sz="1300" lang="en-US"/>
          </a:p>
        </p:txBody>
      </p:sp>
      <p:sp>
        <p:nvSpPr>
          <p:cNvPr id="1048632" name="Text 17"/>
          <p:cNvSpPr/>
          <p:nvPr/>
        </p:nvSpPr>
        <p:spPr>
          <a:xfrm>
            <a:off x="1143000" y="192024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 2D Bike</a:t>
            </a:r>
            <a:endParaRPr dirty="0" sz="1800" lang="en-US"/>
          </a:p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Racing Game</a:t>
            </a:r>
            <a:endParaRPr dirty="0" sz="1800" lang="en-US"/>
          </a:p>
        </p:txBody>
      </p:sp>
      <p:sp>
        <p:nvSpPr>
          <p:cNvPr id="1048633" name="Shape 18"/>
          <p:cNvSpPr/>
          <p:nvPr/>
        </p:nvSpPr>
        <p:spPr>
          <a:xfrm>
            <a:off x="4754880" y="1417320"/>
            <a:ext cx="4114800" cy="1417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634" name="Shape 19"/>
          <p:cNvSpPr/>
          <p:nvPr/>
        </p:nvSpPr>
        <p:spPr>
          <a:xfrm>
            <a:off x="4754880" y="1417320"/>
            <a:ext cx="45720" cy="141732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35" name="Text 20"/>
          <p:cNvSpPr/>
          <p:nvPr/>
        </p:nvSpPr>
        <p:spPr>
          <a:xfrm>
            <a:off x="4892040" y="1645920"/>
            <a:ext cx="64008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📱</a:t>
            </a:r>
            <a:endParaRPr dirty="0" sz="2800" lang="en-US"/>
          </a:p>
        </p:txBody>
      </p:sp>
      <p:sp>
        <p:nvSpPr>
          <p:cNvPr id="1048636" name="Text 21"/>
          <p:cNvSpPr/>
          <p:nvPr/>
        </p:nvSpPr>
        <p:spPr>
          <a:xfrm>
            <a:off x="5532120" y="155448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dirty="0" sz="1300" lang="en-US"/>
          </a:p>
        </p:txBody>
      </p:sp>
      <p:sp>
        <p:nvSpPr>
          <p:cNvPr id="1048637" name="Text 22"/>
          <p:cNvSpPr/>
          <p:nvPr/>
        </p:nvSpPr>
        <p:spPr>
          <a:xfrm>
            <a:off x="5532120" y="192024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5.0+</a:t>
            </a:r>
            <a:endParaRPr dirty="0" sz="1800" lang="en-US"/>
          </a:p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21+)</a:t>
            </a:r>
            <a:endParaRPr dirty="0" sz="1800" lang="en-US"/>
          </a:p>
        </p:txBody>
      </p:sp>
      <p:sp>
        <p:nvSpPr>
          <p:cNvPr id="1048638" name="Shape 23"/>
          <p:cNvSpPr/>
          <p:nvPr/>
        </p:nvSpPr>
        <p:spPr>
          <a:xfrm>
            <a:off x="365760" y="3017520"/>
            <a:ext cx="4114800" cy="1417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639" name="Shape 24"/>
          <p:cNvSpPr/>
          <p:nvPr/>
        </p:nvSpPr>
        <p:spPr>
          <a:xfrm>
            <a:off x="365760" y="3017520"/>
            <a:ext cx="45720" cy="141732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640" name="Text 25"/>
          <p:cNvSpPr/>
          <p:nvPr/>
        </p:nvSpPr>
        <p:spPr>
          <a:xfrm>
            <a:off x="502920" y="3246120"/>
            <a:ext cx="64008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💻</a:t>
            </a:r>
            <a:endParaRPr dirty="0" sz="2800" lang="en-US"/>
          </a:p>
        </p:txBody>
      </p:sp>
      <p:sp>
        <p:nvSpPr>
          <p:cNvPr id="1048641" name="Text 26"/>
          <p:cNvSpPr/>
          <p:nvPr/>
        </p:nvSpPr>
        <p:spPr>
          <a:xfrm>
            <a:off x="1143000" y="315468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dirty="0" sz="1300" lang="en-US"/>
          </a:p>
        </p:txBody>
      </p:sp>
      <p:sp>
        <p:nvSpPr>
          <p:cNvPr id="1048642" name="Text 27"/>
          <p:cNvSpPr/>
          <p:nvPr/>
        </p:nvSpPr>
        <p:spPr>
          <a:xfrm>
            <a:off x="1143000" y="352044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dirty="0" sz="1800" lang="en-US"/>
          </a:p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dirty="0" sz="1800" lang="en-US"/>
          </a:p>
        </p:txBody>
      </p:sp>
      <p:sp>
        <p:nvSpPr>
          <p:cNvPr id="1048643" name="Shape 28"/>
          <p:cNvSpPr/>
          <p:nvPr/>
        </p:nvSpPr>
        <p:spPr>
          <a:xfrm>
            <a:off x="4754880" y="3017520"/>
            <a:ext cx="4114800" cy="1417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644" name="Shape 29"/>
          <p:cNvSpPr/>
          <p:nvPr/>
        </p:nvSpPr>
        <p:spPr>
          <a:xfrm>
            <a:off x="4754880" y="3017520"/>
            <a:ext cx="45720" cy="1417320"/>
          </a:xfrm>
          <a:prstGeom prst="rect"/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8645" name="Text 30"/>
          <p:cNvSpPr/>
          <p:nvPr/>
        </p:nvSpPr>
        <p:spPr>
          <a:xfrm>
            <a:off x="4892040" y="3246120"/>
            <a:ext cx="640080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⚡</a:t>
            </a:r>
            <a:endParaRPr dirty="0" sz="2800" lang="en-US"/>
          </a:p>
        </p:txBody>
      </p:sp>
      <p:sp>
        <p:nvSpPr>
          <p:cNvPr id="1048646" name="Text 31"/>
          <p:cNvSpPr/>
          <p:nvPr/>
        </p:nvSpPr>
        <p:spPr>
          <a:xfrm>
            <a:off x="5532120" y="3154680"/>
            <a:ext cx="32004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dirty="0" sz="1300" lang="en-US"/>
          </a:p>
        </p:txBody>
      </p:sp>
      <p:sp>
        <p:nvSpPr>
          <p:cNvPr id="1048647" name="Text 32"/>
          <p:cNvSpPr/>
          <p:nvPr/>
        </p:nvSpPr>
        <p:spPr>
          <a:xfrm>
            <a:off x="5532120" y="3520440"/>
            <a:ext cx="32004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Smooth</a:t>
            </a:r>
            <a:endParaRPr dirty="0" sz="1800" lang="en-US"/>
          </a:p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dirty="0" sz="1800" lang="en-US"/>
          </a:p>
        </p:txBody>
      </p:sp>
      <p:sp>
        <p:nvSpPr>
          <p:cNvPr id="1048648" name="Text 33"/>
          <p:cNvSpPr/>
          <p:nvPr/>
        </p:nvSpPr>
        <p:spPr>
          <a:xfrm>
            <a:off x="365760" y="4572000"/>
            <a:ext cx="8412480" cy="4572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1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 Rush is a professional Android bike racing game where players dodge enemy bikes,</a:t>
            </a:r>
            <a:endParaRPr dirty="0" sz="1150" lang="en-US"/>
          </a:p>
          <a:p>
            <a:pPr algn="ctr" indent="0" marL="0">
              <a:buNone/>
            </a:pPr>
            <a:r>
              <a:rPr dirty="0" sz="11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coins, and survive at ever-increasing speeds across a 3-lane night highway.</a:t>
            </a:r>
            <a:endParaRPr dirty="0" sz="115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3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4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5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6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7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8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59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60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61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662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63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GAME UI</a:t>
            </a:r>
            <a:endParaRPr dirty="0" sz="1000" lang="en-US"/>
          </a:p>
        </p:txBody>
      </p:sp>
      <p:sp>
        <p:nvSpPr>
          <p:cNvPr id="1048664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Screens &amp; Visual Design</a:t>
            </a:r>
            <a:endParaRPr dirty="0" sz="3600" lang="en-US"/>
          </a:p>
        </p:txBody>
      </p:sp>
      <p:sp>
        <p:nvSpPr>
          <p:cNvPr id="1048665" name="Shape 13"/>
          <p:cNvSpPr/>
          <p:nvPr/>
        </p:nvSpPr>
        <p:spPr>
          <a:xfrm>
            <a:off x="36576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048666" name="Shape 14"/>
          <p:cNvSpPr/>
          <p:nvPr/>
        </p:nvSpPr>
        <p:spPr>
          <a:xfrm>
            <a:off x="475488" y="1389888"/>
            <a:ext cx="2340864" cy="3200400"/>
          </a:xfrm>
          <a:prstGeom prst="rect"/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48667" name="Shape 15"/>
          <p:cNvSpPr/>
          <p:nvPr/>
        </p:nvSpPr>
        <p:spPr>
          <a:xfrm>
            <a:off x="1188720" y="1600200"/>
            <a:ext cx="914400" cy="685800"/>
          </a:xfrm>
          <a:prstGeom prst="ellipse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68" name="Text 16"/>
          <p:cNvSpPr/>
          <p:nvPr/>
        </p:nvSpPr>
        <p:spPr>
          <a:xfrm>
            <a:off x="502920" y="2377440"/>
            <a:ext cx="2286000" cy="7772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</a:t>
            </a:r>
            <a:endParaRPr dirty="0" sz="1800" lang="en-US"/>
          </a:p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RUSH</a:t>
            </a:r>
            <a:endParaRPr dirty="0" sz="1800" lang="en-US"/>
          </a:p>
        </p:txBody>
      </p:sp>
      <p:sp>
        <p:nvSpPr>
          <p:cNvPr id="1048669" name="Text 17"/>
          <p:cNvSpPr/>
          <p:nvPr/>
        </p:nvSpPr>
        <p:spPr>
          <a:xfrm>
            <a:off x="502920" y="3200400"/>
            <a:ext cx="228600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700" kern="0" lang="en-US" spc="10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EVERYTHING</a:t>
            </a:r>
            <a:endParaRPr dirty="0" sz="700" lang="en-US"/>
          </a:p>
        </p:txBody>
      </p:sp>
      <p:sp>
        <p:nvSpPr>
          <p:cNvPr id="1048670" name="Shape 18"/>
          <p:cNvSpPr/>
          <p:nvPr/>
        </p:nvSpPr>
        <p:spPr>
          <a:xfrm>
            <a:off x="685800" y="4251960"/>
            <a:ext cx="1920240" cy="109728"/>
          </a:xfrm>
          <a:prstGeom prst="rect"/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671" name="Shape 19"/>
          <p:cNvSpPr/>
          <p:nvPr/>
        </p:nvSpPr>
        <p:spPr>
          <a:xfrm>
            <a:off x="685800" y="4251960"/>
            <a:ext cx="1280160" cy="10972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72" name="Text 20"/>
          <p:cNvSpPr/>
          <p:nvPr/>
        </p:nvSpPr>
        <p:spPr>
          <a:xfrm>
            <a:off x="365760" y="4800600"/>
            <a:ext cx="2560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</a:t>
            </a:r>
            <a:endParaRPr dirty="0" sz="1100" lang="en-US"/>
          </a:p>
        </p:txBody>
      </p:sp>
      <p:sp>
        <p:nvSpPr>
          <p:cNvPr id="1048673" name="Shape 21"/>
          <p:cNvSpPr/>
          <p:nvPr/>
        </p:nvSpPr>
        <p:spPr>
          <a:xfrm>
            <a:off x="324612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1048674" name="Shape 22"/>
          <p:cNvSpPr/>
          <p:nvPr/>
        </p:nvSpPr>
        <p:spPr>
          <a:xfrm>
            <a:off x="3355848" y="1389888"/>
            <a:ext cx="2340864" cy="3200400"/>
          </a:xfrm>
          <a:prstGeom prst="rect"/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48675" name="Shape 23"/>
          <p:cNvSpPr/>
          <p:nvPr/>
        </p:nvSpPr>
        <p:spPr>
          <a:xfrm>
            <a:off x="3566160" y="1389888"/>
            <a:ext cx="1920240" cy="3200400"/>
          </a:xfrm>
          <a:prstGeom prst="rect"/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048676" name="Shape 24"/>
          <p:cNvSpPr/>
          <p:nvPr/>
        </p:nvSpPr>
        <p:spPr>
          <a:xfrm>
            <a:off x="3867912" y="1828800"/>
            <a:ext cx="54864" cy="457200"/>
          </a:xfrm>
          <a:prstGeom prst="rect"/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1048677" name="Shape 25"/>
          <p:cNvSpPr/>
          <p:nvPr/>
        </p:nvSpPr>
        <p:spPr>
          <a:xfrm>
            <a:off x="4123944" y="2103120"/>
            <a:ext cx="54864" cy="457200"/>
          </a:xfrm>
          <a:prstGeom prst="rect"/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1048678" name="Shape 26"/>
          <p:cNvSpPr/>
          <p:nvPr/>
        </p:nvSpPr>
        <p:spPr>
          <a:xfrm>
            <a:off x="4379976" y="2377440"/>
            <a:ext cx="54864" cy="457200"/>
          </a:xfrm>
          <a:prstGeom prst="rect"/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1048679" name="Shape 27"/>
          <p:cNvSpPr/>
          <p:nvPr/>
        </p:nvSpPr>
        <p:spPr>
          <a:xfrm>
            <a:off x="4636008" y="2651760"/>
            <a:ext cx="54864" cy="457200"/>
          </a:xfrm>
          <a:prstGeom prst="rect"/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1048680" name="Shape 28"/>
          <p:cNvSpPr/>
          <p:nvPr/>
        </p:nvSpPr>
        <p:spPr>
          <a:xfrm>
            <a:off x="4206240" y="3840480"/>
            <a:ext cx="411480" cy="548640"/>
          </a:xfrm>
          <a:prstGeom prst="ellipse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681" name="Shape 29"/>
          <p:cNvSpPr/>
          <p:nvPr/>
        </p:nvSpPr>
        <p:spPr>
          <a:xfrm>
            <a:off x="3794760" y="2560320"/>
            <a:ext cx="411480" cy="502920"/>
          </a:xfrm>
          <a:prstGeom prst="ellipse"/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48682" name="Shape 30"/>
          <p:cNvSpPr/>
          <p:nvPr/>
        </p:nvSpPr>
        <p:spPr>
          <a:xfrm>
            <a:off x="4617720" y="3017520"/>
            <a:ext cx="201168" cy="201168"/>
          </a:xfrm>
          <a:prstGeom prst="ellipse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683" name="Shape 31"/>
          <p:cNvSpPr/>
          <p:nvPr/>
        </p:nvSpPr>
        <p:spPr>
          <a:xfrm>
            <a:off x="3355848" y="1389888"/>
            <a:ext cx="2340864" cy="502920"/>
          </a:xfrm>
          <a:prstGeom prst="rect"/>
          <a:solidFill>
            <a:srgbClr val="000000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48684" name="Text 32"/>
          <p:cNvSpPr/>
          <p:nvPr/>
        </p:nvSpPr>
        <p:spPr>
          <a:xfrm>
            <a:off x="3383280" y="1417320"/>
            <a:ext cx="2286000" cy="2286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700" lang="en-US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1450</a:t>
            </a:r>
            <a:endParaRPr dirty="0" sz="700" lang="en-US"/>
          </a:p>
        </p:txBody>
      </p:sp>
      <p:sp>
        <p:nvSpPr>
          <p:cNvPr id="1048685" name="Text 33"/>
          <p:cNvSpPr/>
          <p:nvPr/>
        </p:nvSpPr>
        <p:spPr>
          <a:xfrm>
            <a:off x="3383280" y="1645920"/>
            <a:ext cx="2286000" cy="1828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700" lang="en-US">
                <a:solidFill>
                  <a:srgbClr val="FF1744"/>
                </a:solidFill>
              </a:rPr>
              <a:t>❤❤❤</a:t>
            </a:r>
            <a:endParaRPr dirty="0" sz="700" lang="en-US"/>
          </a:p>
        </p:txBody>
      </p:sp>
      <p:sp>
        <p:nvSpPr>
          <p:cNvPr id="1048686" name="Text 34"/>
          <p:cNvSpPr/>
          <p:nvPr/>
        </p:nvSpPr>
        <p:spPr>
          <a:xfrm>
            <a:off x="3246120" y="4800600"/>
            <a:ext cx="2560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Screen</a:t>
            </a:r>
            <a:endParaRPr dirty="0" sz="1100" lang="en-US"/>
          </a:p>
        </p:txBody>
      </p:sp>
      <p:sp>
        <p:nvSpPr>
          <p:cNvPr id="1048687" name="Shape 35"/>
          <p:cNvSpPr/>
          <p:nvPr/>
        </p:nvSpPr>
        <p:spPr>
          <a:xfrm>
            <a:off x="6126480" y="1234440"/>
            <a:ext cx="2560320" cy="3520440"/>
          </a:xfrm>
          <a:prstGeom prst="roundRect">
            <a:avLst>
              <a:gd name="adj" fmla="val 6429"/>
            </a:avLst>
          </a:prstGeom>
          <a:solidFill>
            <a:srgbClr val="1A1A2E"/>
          </a:solidFill>
          <a:ln w="25400">
            <a:solidFill>
              <a:srgbClr val="FF1744"/>
            </a:solidFill>
            <a:prstDash val="solid"/>
          </a:ln>
        </p:spPr>
      </p:sp>
      <p:sp>
        <p:nvSpPr>
          <p:cNvPr id="1048688" name="Shape 36"/>
          <p:cNvSpPr/>
          <p:nvPr/>
        </p:nvSpPr>
        <p:spPr>
          <a:xfrm>
            <a:off x="6236208" y="1389888"/>
            <a:ext cx="2340864" cy="3200400"/>
          </a:xfrm>
          <a:prstGeom prst="rect"/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48689" name="Shape 37"/>
          <p:cNvSpPr/>
          <p:nvPr/>
        </p:nvSpPr>
        <p:spPr>
          <a:xfrm>
            <a:off x="6236208" y="1389888"/>
            <a:ext cx="2340864" cy="3200400"/>
          </a:xfrm>
          <a:prstGeom prst="rect"/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48690" name="Shape 38"/>
          <p:cNvSpPr/>
          <p:nvPr/>
        </p:nvSpPr>
        <p:spPr>
          <a:xfrm>
            <a:off x="6355080" y="1920240"/>
            <a:ext cx="2103120" cy="237744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691" name="Shape 39"/>
          <p:cNvSpPr/>
          <p:nvPr/>
        </p:nvSpPr>
        <p:spPr>
          <a:xfrm>
            <a:off x="6995160" y="2011680"/>
            <a:ext cx="640080" cy="548640"/>
          </a:xfrm>
          <a:prstGeom prst="ellipse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92" name="Text 40"/>
          <p:cNvSpPr/>
          <p:nvPr/>
        </p:nvSpPr>
        <p:spPr>
          <a:xfrm>
            <a:off x="6355080" y="2651760"/>
            <a:ext cx="210312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RACE OVER</a:t>
            </a:r>
            <a:endParaRPr dirty="0" sz="1000" lang="en-US"/>
          </a:p>
        </p:txBody>
      </p:sp>
      <p:sp>
        <p:nvSpPr>
          <p:cNvPr id="1048693" name="Text 41"/>
          <p:cNvSpPr/>
          <p:nvPr/>
        </p:nvSpPr>
        <p:spPr>
          <a:xfrm>
            <a:off x="6355080" y="2971800"/>
            <a:ext cx="210312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3,450</a:t>
            </a:r>
            <a:endParaRPr dirty="0" sz="1800" lang="en-US"/>
          </a:p>
        </p:txBody>
      </p:sp>
      <p:sp>
        <p:nvSpPr>
          <p:cNvPr id="1048694" name="Text 42"/>
          <p:cNvSpPr/>
          <p:nvPr/>
        </p:nvSpPr>
        <p:spPr>
          <a:xfrm>
            <a:off x="6355080" y="3383280"/>
            <a:ext cx="2103120" cy="1828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7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SCORE</a:t>
            </a:r>
            <a:endParaRPr dirty="0" sz="700" lang="en-US"/>
          </a:p>
        </p:txBody>
      </p:sp>
      <p:sp>
        <p:nvSpPr>
          <p:cNvPr id="1048695" name="Shape 43"/>
          <p:cNvSpPr/>
          <p:nvPr/>
        </p:nvSpPr>
        <p:spPr>
          <a:xfrm>
            <a:off x="6492240" y="3749040"/>
            <a:ext cx="1828800" cy="32004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696" name="Text 44"/>
          <p:cNvSpPr/>
          <p:nvPr/>
        </p:nvSpPr>
        <p:spPr>
          <a:xfrm>
            <a:off x="6492240" y="3749040"/>
            <a:ext cx="182880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800" lang="en-US">
                <a:solidFill>
                  <a:srgbClr val="FFFFFF"/>
                </a:solidFill>
              </a:rPr>
              <a:t>RESTART</a:t>
            </a:r>
            <a:endParaRPr dirty="0" sz="800" lang="en-US"/>
          </a:p>
        </p:txBody>
      </p:sp>
      <p:sp>
        <p:nvSpPr>
          <p:cNvPr id="1048697" name="Text 45"/>
          <p:cNvSpPr/>
          <p:nvPr/>
        </p:nvSpPr>
        <p:spPr>
          <a:xfrm>
            <a:off x="6126480" y="4800600"/>
            <a:ext cx="2560320" cy="2743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100" lang="en-US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dirty="0" sz="11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2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3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4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5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6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7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8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09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10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11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12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FEATURES</a:t>
            </a:r>
            <a:endParaRPr dirty="0" sz="1000" lang="en-US"/>
          </a:p>
        </p:txBody>
      </p:sp>
      <p:sp>
        <p:nvSpPr>
          <p:cNvPr id="1048713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dirty="0" sz="3600" lang="en-US"/>
          </a:p>
        </p:txBody>
      </p:sp>
      <p:sp>
        <p:nvSpPr>
          <p:cNvPr id="1048714" name="Shape 13"/>
          <p:cNvSpPr/>
          <p:nvPr/>
        </p:nvSpPr>
        <p:spPr>
          <a:xfrm>
            <a:off x="320040" y="138988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15" name="Shape 14"/>
          <p:cNvSpPr/>
          <p:nvPr/>
        </p:nvSpPr>
        <p:spPr>
          <a:xfrm>
            <a:off x="320040" y="1389888"/>
            <a:ext cx="45720" cy="150876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16" name="Text 15"/>
          <p:cNvSpPr/>
          <p:nvPr/>
        </p:nvSpPr>
        <p:spPr>
          <a:xfrm>
            <a:off x="429768" y="166420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⚡</a:t>
            </a:r>
            <a:endParaRPr dirty="0" sz="2400" lang="en-US"/>
          </a:p>
        </p:txBody>
      </p:sp>
      <p:sp>
        <p:nvSpPr>
          <p:cNvPr id="1048717" name="Text 16"/>
          <p:cNvSpPr/>
          <p:nvPr/>
        </p:nvSpPr>
        <p:spPr>
          <a:xfrm>
            <a:off x="1005840" y="155448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Game Loop</a:t>
            </a:r>
            <a:endParaRPr dirty="0" sz="1300" lang="en-US"/>
          </a:p>
        </p:txBody>
      </p:sp>
      <p:sp>
        <p:nvSpPr>
          <p:cNvPr id="1048718" name="Text 17"/>
          <p:cNvSpPr/>
          <p:nvPr/>
        </p:nvSpPr>
        <p:spPr>
          <a:xfrm>
            <a:off x="1005840" y="192024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SurfaceView + background thread for buttery smooth gameplay</a:t>
            </a:r>
            <a:endParaRPr dirty="0" sz="1050" lang="en-US"/>
          </a:p>
        </p:txBody>
      </p:sp>
      <p:sp>
        <p:nvSpPr>
          <p:cNvPr id="1048719" name="Shape 18"/>
          <p:cNvSpPr/>
          <p:nvPr/>
        </p:nvSpPr>
        <p:spPr>
          <a:xfrm>
            <a:off x="3246120" y="138988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20" name="Shape 19"/>
          <p:cNvSpPr/>
          <p:nvPr/>
        </p:nvSpPr>
        <p:spPr>
          <a:xfrm>
            <a:off x="3246120" y="1389888"/>
            <a:ext cx="45720" cy="1508760"/>
          </a:xfrm>
          <a:prstGeom prst="rect"/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48721" name="Text 20"/>
          <p:cNvSpPr/>
          <p:nvPr/>
        </p:nvSpPr>
        <p:spPr>
          <a:xfrm>
            <a:off x="3355848" y="166420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👆</a:t>
            </a:r>
            <a:endParaRPr dirty="0" sz="2400" lang="en-US"/>
          </a:p>
        </p:txBody>
      </p:sp>
      <p:sp>
        <p:nvSpPr>
          <p:cNvPr id="1048722" name="Text 21"/>
          <p:cNvSpPr/>
          <p:nvPr/>
        </p:nvSpPr>
        <p:spPr>
          <a:xfrm>
            <a:off x="3931920" y="155448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Controls</a:t>
            </a:r>
            <a:endParaRPr dirty="0" sz="1300" lang="en-US"/>
          </a:p>
        </p:txBody>
      </p:sp>
      <p:sp>
        <p:nvSpPr>
          <p:cNvPr id="1048723" name="Text 22"/>
          <p:cNvSpPr/>
          <p:nvPr/>
        </p:nvSpPr>
        <p:spPr>
          <a:xfrm>
            <a:off x="3931920" y="192024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left/right to steer — responsive tilt animation on bike</a:t>
            </a:r>
            <a:endParaRPr dirty="0" sz="1050" lang="en-US"/>
          </a:p>
        </p:txBody>
      </p:sp>
      <p:sp>
        <p:nvSpPr>
          <p:cNvPr id="1048724" name="Shape 23"/>
          <p:cNvSpPr/>
          <p:nvPr/>
        </p:nvSpPr>
        <p:spPr>
          <a:xfrm>
            <a:off x="6172200" y="138988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25" name="Shape 24"/>
          <p:cNvSpPr/>
          <p:nvPr/>
        </p:nvSpPr>
        <p:spPr>
          <a:xfrm>
            <a:off x="6172200" y="1389888"/>
            <a:ext cx="45720" cy="1508760"/>
          </a:xfrm>
          <a:prstGeom prst="rect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726" name="Text 25"/>
          <p:cNvSpPr/>
          <p:nvPr/>
        </p:nvSpPr>
        <p:spPr>
          <a:xfrm>
            <a:off x="6281928" y="166420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🎯</a:t>
            </a:r>
            <a:endParaRPr dirty="0" sz="2400" lang="en-US"/>
          </a:p>
        </p:txBody>
      </p:sp>
      <p:sp>
        <p:nvSpPr>
          <p:cNvPr id="1048727" name="Text 26"/>
          <p:cNvSpPr/>
          <p:nvPr/>
        </p:nvSpPr>
        <p:spPr>
          <a:xfrm>
            <a:off x="6858000" y="155448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Detection</a:t>
            </a:r>
            <a:endParaRPr dirty="0" sz="1300" lang="en-US"/>
          </a:p>
        </p:txBody>
      </p:sp>
      <p:sp>
        <p:nvSpPr>
          <p:cNvPr id="1048728" name="Text 27"/>
          <p:cNvSpPr/>
          <p:nvPr/>
        </p:nvSpPr>
        <p:spPr>
          <a:xfrm>
            <a:off x="6858000" y="192024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bounding-box hit detection on all game objects</a:t>
            </a:r>
            <a:endParaRPr dirty="0" sz="1050" lang="en-US"/>
          </a:p>
        </p:txBody>
      </p:sp>
      <p:sp>
        <p:nvSpPr>
          <p:cNvPr id="1048729" name="Shape 28"/>
          <p:cNvSpPr/>
          <p:nvPr/>
        </p:nvSpPr>
        <p:spPr>
          <a:xfrm>
            <a:off x="320040" y="308152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30" name="Shape 29"/>
          <p:cNvSpPr/>
          <p:nvPr/>
        </p:nvSpPr>
        <p:spPr>
          <a:xfrm>
            <a:off x="320040" y="3081528"/>
            <a:ext cx="45720" cy="150876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31" name="Text 30"/>
          <p:cNvSpPr/>
          <p:nvPr/>
        </p:nvSpPr>
        <p:spPr>
          <a:xfrm>
            <a:off x="429768" y="335584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💥</a:t>
            </a:r>
            <a:endParaRPr dirty="0" sz="2400" lang="en-US"/>
          </a:p>
        </p:txBody>
      </p:sp>
      <p:sp>
        <p:nvSpPr>
          <p:cNvPr id="1048732" name="Text 31"/>
          <p:cNvSpPr/>
          <p:nvPr/>
        </p:nvSpPr>
        <p:spPr>
          <a:xfrm>
            <a:off x="1005840" y="324612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 Explosions</a:t>
            </a:r>
            <a:endParaRPr dirty="0" sz="1300" lang="en-US"/>
          </a:p>
        </p:txBody>
      </p:sp>
      <p:sp>
        <p:nvSpPr>
          <p:cNvPr id="1048733" name="Text 32"/>
          <p:cNvSpPr/>
          <p:nvPr/>
        </p:nvSpPr>
        <p:spPr>
          <a:xfrm>
            <a:off x="1005840" y="361188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24-particle system with gravity, fade, sparks on crash</a:t>
            </a:r>
            <a:endParaRPr dirty="0" sz="1050" lang="en-US"/>
          </a:p>
        </p:txBody>
      </p:sp>
      <p:sp>
        <p:nvSpPr>
          <p:cNvPr id="1048734" name="Shape 33"/>
          <p:cNvSpPr/>
          <p:nvPr/>
        </p:nvSpPr>
        <p:spPr>
          <a:xfrm>
            <a:off x="3246120" y="308152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35" name="Shape 34"/>
          <p:cNvSpPr/>
          <p:nvPr/>
        </p:nvSpPr>
        <p:spPr>
          <a:xfrm>
            <a:off x="3246120" y="3081528"/>
            <a:ext cx="45720" cy="1508760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36" name="Text 35"/>
          <p:cNvSpPr/>
          <p:nvPr/>
        </p:nvSpPr>
        <p:spPr>
          <a:xfrm>
            <a:off x="3355848" y="335584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🔊</a:t>
            </a:r>
            <a:endParaRPr dirty="0" sz="2400" lang="en-US"/>
          </a:p>
        </p:txBody>
      </p:sp>
      <p:sp>
        <p:nvSpPr>
          <p:cNvPr id="1048737" name="Text 36"/>
          <p:cNvSpPr/>
          <p:nvPr/>
        </p:nvSpPr>
        <p:spPr>
          <a:xfrm>
            <a:off x="3931920" y="324612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System</a:t>
            </a:r>
            <a:endParaRPr dirty="0" sz="1300" lang="en-US"/>
          </a:p>
        </p:txBody>
      </p:sp>
      <p:sp>
        <p:nvSpPr>
          <p:cNvPr id="1048738" name="Text 37"/>
          <p:cNvSpPr/>
          <p:nvPr/>
        </p:nvSpPr>
        <p:spPr>
          <a:xfrm>
            <a:off x="3931920" y="361188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SoundPool SFX + MediaPlayer looping engine audi</a:t>
            </a: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dirty="0" sz="1050" lang="en-US"/>
          </a:p>
        </p:txBody>
      </p:sp>
      <p:sp>
        <p:nvSpPr>
          <p:cNvPr id="1048739" name="Shape 38"/>
          <p:cNvSpPr/>
          <p:nvPr/>
        </p:nvSpPr>
        <p:spPr>
          <a:xfrm>
            <a:off x="6172200" y="3081528"/>
            <a:ext cx="2743200" cy="150876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740" name="Shape 39"/>
          <p:cNvSpPr/>
          <p:nvPr/>
        </p:nvSpPr>
        <p:spPr>
          <a:xfrm>
            <a:off x="6172200" y="3081528"/>
            <a:ext cx="45720" cy="1508760"/>
          </a:xfrm>
          <a:prstGeom prst="rect"/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8741" name="Text 40"/>
          <p:cNvSpPr/>
          <p:nvPr/>
        </p:nvSpPr>
        <p:spPr>
          <a:xfrm>
            <a:off x="6281928" y="3355848"/>
            <a:ext cx="54864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400" lang="en-US">
                <a:solidFill>
                  <a:srgbClr val="000000"/>
                </a:solidFill>
              </a:rPr>
              <a:t>🏆</a:t>
            </a:r>
            <a:endParaRPr dirty="0" sz="2400" lang="en-US"/>
          </a:p>
        </p:txBody>
      </p:sp>
      <p:sp>
        <p:nvSpPr>
          <p:cNvPr id="1048742" name="Text 41"/>
          <p:cNvSpPr/>
          <p:nvPr/>
        </p:nvSpPr>
        <p:spPr>
          <a:xfrm>
            <a:off x="6858000" y="3246120"/>
            <a:ext cx="192024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Score Save</a:t>
            </a:r>
            <a:endParaRPr dirty="0" sz="1300" lang="en-US"/>
          </a:p>
        </p:txBody>
      </p:sp>
      <p:sp>
        <p:nvSpPr>
          <p:cNvPr id="1048743" name="Text 42"/>
          <p:cNvSpPr/>
          <p:nvPr/>
        </p:nvSpPr>
        <p:spPr>
          <a:xfrm>
            <a:off x="6858000" y="3611880"/>
            <a:ext cx="1920240" cy="7772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persistent local storage across sessions</a:t>
            </a:r>
            <a:endParaRPr dirty="0" sz="105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48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49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0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1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2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3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4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5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6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57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58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ARCHITECTURE</a:t>
            </a:r>
            <a:endParaRPr dirty="0" sz="1000" lang="en-US"/>
          </a:p>
        </p:txBody>
      </p:sp>
      <p:sp>
        <p:nvSpPr>
          <p:cNvPr id="1048759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dirty="0" sz="3600" lang="en-US"/>
          </a:p>
        </p:txBody>
      </p:sp>
      <p:sp>
        <p:nvSpPr>
          <p:cNvPr id="1048760" name="Shape 13"/>
          <p:cNvSpPr/>
          <p:nvPr/>
        </p:nvSpPr>
        <p:spPr>
          <a:xfrm>
            <a:off x="320040" y="1371600"/>
            <a:ext cx="1645920" cy="530352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61" name="Text 14"/>
          <p:cNvSpPr/>
          <p:nvPr/>
        </p:nvSpPr>
        <p:spPr>
          <a:xfrm>
            <a:off x="320040" y="1371600"/>
            <a:ext cx="1645920" cy="53035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kern="0" lang="en-US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dirty="0" sz="900" lang="en-US"/>
          </a:p>
        </p:txBody>
      </p:sp>
      <p:sp>
        <p:nvSpPr>
          <p:cNvPr id="1048762" name="Shape 15"/>
          <p:cNvSpPr/>
          <p:nvPr/>
        </p:nvSpPr>
        <p:spPr>
          <a:xfrm>
            <a:off x="1965960" y="1572768"/>
            <a:ext cx="228600" cy="128016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763" name="Shape 16"/>
          <p:cNvSpPr/>
          <p:nvPr/>
        </p:nvSpPr>
        <p:spPr>
          <a:xfrm>
            <a:off x="2194560" y="1371600"/>
            <a:ext cx="6583680" cy="530352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764" name="Text 17"/>
          <p:cNvSpPr/>
          <p:nvPr/>
        </p:nvSpPr>
        <p:spPr>
          <a:xfrm>
            <a:off x="2331720" y="1371600"/>
            <a:ext cx="630936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SplashActivity  |  HomeActivity  |  GameOverActivity</a:t>
            </a:r>
            <a:endParaRPr dirty="0" sz="1200" lang="en-US"/>
          </a:p>
        </p:txBody>
      </p:sp>
      <p:sp>
        <p:nvSpPr>
          <p:cNvPr id="1048765" name="Shape 18"/>
          <p:cNvSpPr/>
          <p:nvPr/>
        </p:nvSpPr>
        <p:spPr>
          <a:xfrm>
            <a:off x="320040" y="2057400"/>
            <a:ext cx="1645920" cy="530352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66" name="Text 19"/>
          <p:cNvSpPr/>
          <p:nvPr/>
        </p:nvSpPr>
        <p:spPr>
          <a:xfrm>
            <a:off x="320040" y="2057400"/>
            <a:ext cx="1645920" cy="53035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kern="0" lang="en-US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LAYER</a:t>
            </a:r>
            <a:endParaRPr dirty="0" sz="900" lang="en-US"/>
          </a:p>
        </p:txBody>
      </p:sp>
      <p:sp>
        <p:nvSpPr>
          <p:cNvPr id="1048767" name="Shape 20"/>
          <p:cNvSpPr/>
          <p:nvPr/>
        </p:nvSpPr>
        <p:spPr>
          <a:xfrm>
            <a:off x="1965960" y="2258568"/>
            <a:ext cx="228600" cy="128016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68" name="Shape 21"/>
          <p:cNvSpPr/>
          <p:nvPr/>
        </p:nvSpPr>
        <p:spPr>
          <a:xfrm>
            <a:off x="2194560" y="2057400"/>
            <a:ext cx="6583680" cy="530352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769" name="Text 22"/>
          <p:cNvSpPr/>
          <p:nvPr/>
        </p:nvSpPr>
        <p:spPr>
          <a:xfrm>
            <a:off x="2331720" y="2057400"/>
            <a:ext cx="630936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GameActivity  |  GameView  |  GameThread  |  GameManager</a:t>
            </a:r>
            <a:endParaRPr dirty="0" sz="1200" lang="en-US"/>
          </a:p>
        </p:txBody>
      </p:sp>
      <p:sp>
        <p:nvSpPr>
          <p:cNvPr id="1048770" name="Shape 23"/>
          <p:cNvSpPr/>
          <p:nvPr/>
        </p:nvSpPr>
        <p:spPr>
          <a:xfrm>
            <a:off x="320040" y="2743200"/>
            <a:ext cx="1645920" cy="530352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71" name="Text 24"/>
          <p:cNvSpPr/>
          <p:nvPr/>
        </p:nvSpPr>
        <p:spPr>
          <a:xfrm>
            <a:off x="320040" y="2743200"/>
            <a:ext cx="1645920" cy="53035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kern="0" lang="en-US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LAYER</a:t>
            </a:r>
            <a:endParaRPr dirty="0" sz="900" lang="en-US"/>
          </a:p>
        </p:txBody>
      </p:sp>
      <p:sp>
        <p:nvSpPr>
          <p:cNvPr id="1048772" name="Shape 25"/>
          <p:cNvSpPr/>
          <p:nvPr/>
        </p:nvSpPr>
        <p:spPr>
          <a:xfrm>
            <a:off x="1965960" y="2944368"/>
            <a:ext cx="228600" cy="128016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773" name="Shape 26"/>
          <p:cNvSpPr/>
          <p:nvPr/>
        </p:nvSpPr>
        <p:spPr>
          <a:xfrm>
            <a:off x="2194560" y="2743200"/>
            <a:ext cx="6583680" cy="530352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774" name="Text 27"/>
          <p:cNvSpPr/>
          <p:nvPr/>
        </p:nvSpPr>
        <p:spPr>
          <a:xfrm>
            <a:off x="2331720" y="2743200"/>
            <a:ext cx="630936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PlayerBike  |  EnemyBike  |  Road  |  Obstacle  |  Coin</a:t>
            </a:r>
            <a:endParaRPr dirty="0" sz="1200" lang="en-US"/>
          </a:p>
        </p:txBody>
      </p:sp>
      <p:sp>
        <p:nvSpPr>
          <p:cNvPr id="1048775" name="Shape 28"/>
          <p:cNvSpPr/>
          <p:nvPr/>
        </p:nvSpPr>
        <p:spPr>
          <a:xfrm>
            <a:off x="320040" y="3429000"/>
            <a:ext cx="1645920" cy="530352"/>
          </a:xfrm>
          <a:prstGeom prst="rect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776" name="Text 29"/>
          <p:cNvSpPr/>
          <p:nvPr/>
        </p:nvSpPr>
        <p:spPr>
          <a:xfrm>
            <a:off x="320040" y="3429000"/>
            <a:ext cx="1645920" cy="53035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kern="0" lang="en-US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LAYER</a:t>
            </a:r>
            <a:endParaRPr dirty="0" sz="900" lang="en-US"/>
          </a:p>
        </p:txBody>
      </p:sp>
      <p:sp>
        <p:nvSpPr>
          <p:cNvPr id="1048777" name="Shape 30"/>
          <p:cNvSpPr/>
          <p:nvPr/>
        </p:nvSpPr>
        <p:spPr>
          <a:xfrm>
            <a:off x="1965960" y="3630168"/>
            <a:ext cx="228600" cy="128016"/>
          </a:xfrm>
          <a:prstGeom prst="rect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778" name="Shape 31"/>
          <p:cNvSpPr/>
          <p:nvPr/>
        </p:nvSpPr>
        <p:spPr>
          <a:xfrm>
            <a:off x="2194560" y="3429000"/>
            <a:ext cx="6583680" cy="530352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779" name="Text 32"/>
          <p:cNvSpPr/>
          <p:nvPr/>
        </p:nvSpPr>
        <p:spPr>
          <a:xfrm>
            <a:off x="2331720" y="3429000"/>
            <a:ext cx="630936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ExplosionEffect  |  SpeedLines</a:t>
            </a:r>
            <a:endParaRPr dirty="0" sz="1200" lang="en-US"/>
          </a:p>
        </p:txBody>
      </p:sp>
      <p:sp>
        <p:nvSpPr>
          <p:cNvPr id="1048780" name="Shape 33"/>
          <p:cNvSpPr/>
          <p:nvPr/>
        </p:nvSpPr>
        <p:spPr>
          <a:xfrm>
            <a:off x="320040" y="4114800"/>
            <a:ext cx="1645920" cy="530352"/>
          </a:xfrm>
          <a:prstGeom prst="rect"/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8781" name="Text 34"/>
          <p:cNvSpPr/>
          <p:nvPr/>
        </p:nvSpPr>
        <p:spPr>
          <a:xfrm>
            <a:off x="320040" y="4114800"/>
            <a:ext cx="1645920" cy="53035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kern="0" lang="en-US" spc="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 LAYER</a:t>
            </a:r>
            <a:endParaRPr dirty="0" sz="900" lang="en-US"/>
          </a:p>
        </p:txBody>
      </p:sp>
      <p:sp>
        <p:nvSpPr>
          <p:cNvPr id="1048782" name="Shape 35"/>
          <p:cNvSpPr/>
          <p:nvPr/>
        </p:nvSpPr>
        <p:spPr>
          <a:xfrm>
            <a:off x="1965960" y="4315968"/>
            <a:ext cx="228600" cy="128016"/>
          </a:xfrm>
          <a:prstGeom prst="rect"/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8783" name="Shape 36"/>
          <p:cNvSpPr/>
          <p:nvPr/>
        </p:nvSpPr>
        <p:spPr>
          <a:xfrm>
            <a:off x="2194560" y="4114800"/>
            <a:ext cx="6583680" cy="530352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48784" name="Text 37"/>
          <p:cNvSpPr/>
          <p:nvPr/>
        </p:nvSpPr>
        <p:spPr>
          <a:xfrm>
            <a:off x="2331720" y="4114800"/>
            <a:ext cx="6309360" cy="53035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SoundManager  |  PreferenceManager  |  CollisionDetector</a:t>
            </a:r>
            <a:endParaRPr dirty="0" sz="12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89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0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1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2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3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4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5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6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7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798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799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GAME ASSETS</a:t>
            </a:r>
            <a:endParaRPr dirty="0" sz="1000" lang="en-US"/>
          </a:p>
        </p:txBody>
      </p:sp>
      <p:sp>
        <p:nvSpPr>
          <p:cNvPr id="1048800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Objects &amp; Assets</a:t>
            </a:r>
            <a:endParaRPr dirty="0" sz="3600" lang="en-US"/>
          </a:p>
        </p:txBody>
      </p:sp>
      <p:sp>
        <p:nvSpPr>
          <p:cNvPr id="1048801" name="Shape 13"/>
          <p:cNvSpPr/>
          <p:nvPr/>
        </p:nvSpPr>
        <p:spPr>
          <a:xfrm>
            <a:off x="320040" y="138988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02" name="Shape 14"/>
          <p:cNvSpPr/>
          <p:nvPr/>
        </p:nvSpPr>
        <p:spPr>
          <a:xfrm>
            <a:off x="502920" y="1755648"/>
            <a:ext cx="914400" cy="914400"/>
          </a:xfrm>
          <a:prstGeom prst="ellipse"/>
          <a:solidFill>
            <a:srgbClr val="1565C0">
              <a:alpha val="80000"/>
            </a:srgbClr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048803" name="Text 15"/>
          <p:cNvSpPr/>
          <p:nvPr/>
        </p:nvSpPr>
        <p:spPr>
          <a:xfrm>
            <a:off x="502920" y="175564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🏍</a:t>
            </a:r>
            <a:endParaRPr dirty="0" sz="2800" lang="en-US"/>
          </a:p>
        </p:txBody>
      </p:sp>
      <p:sp>
        <p:nvSpPr>
          <p:cNvPr id="1048804" name="Text 16"/>
          <p:cNvSpPr/>
          <p:nvPr/>
        </p:nvSpPr>
        <p:spPr>
          <a:xfrm>
            <a:off x="1508760" y="152704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Bike</a:t>
            </a:r>
            <a:endParaRPr dirty="0" sz="1200" lang="en-US"/>
          </a:p>
        </p:txBody>
      </p:sp>
      <p:sp>
        <p:nvSpPr>
          <p:cNvPr id="1048805" name="Text 17"/>
          <p:cNvSpPr/>
          <p:nvPr/>
        </p:nvSpPr>
        <p:spPr>
          <a:xfrm>
            <a:off x="1508760" y="189280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racing bike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rider + tilt animation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exhaust flame</a:t>
            </a:r>
            <a:endParaRPr dirty="0" sz="950" lang="en-US"/>
          </a:p>
        </p:txBody>
      </p:sp>
      <p:sp>
        <p:nvSpPr>
          <p:cNvPr id="1048806" name="Shape 18"/>
          <p:cNvSpPr/>
          <p:nvPr/>
        </p:nvSpPr>
        <p:spPr>
          <a:xfrm>
            <a:off x="3246120" y="138988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07" name="Shape 19"/>
          <p:cNvSpPr/>
          <p:nvPr/>
        </p:nvSpPr>
        <p:spPr>
          <a:xfrm>
            <a:off x="3429000" y="1755648"/>
            <a:ext cx="914400" cy="914400"/>
          </a:xfrm>
          <a:prstGeom prst="ellipse"/>
          <a:solidFill>
            <a:srgbClr val="B71C1C">
              <a:alpha val="80000"/>
            </a:srgbClr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1048808" name="Text 20"/>
          <p:cNvSpPr/>
          <p:nvPr/>
        </p:nvSpPr>
        <p:spPr>
          <a:xfrm>
            <a:off x="3429000" y="175564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🏍</a:t>
            </a:r>
            <a:endParaRPr dirty="0" sz="2800" lang="en-US"/>
          </a:p>
        </p:txBody>
      </p:sp>
      <p:sp>
        <p:nvSpPr>
          <p:cNvPr id="1048809" name="Text 21"/>
          <p:cNvSpPr/>
          <p:nvPr/>
        </p:nvSpPr>
        <p:spPr>
          <a:xfrm>
            <a:off x="4434840" y="152704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Enemy Bike</a:t>
            </a:r>
            <a:endParaRPr dirty="0" sz="1200" lang="en-US"/>
          </a:p>
        </p:txBody>
      </p:sp>
      <p:sp>
        <p:nvSpPr>
          <p:cNvPr id="1048810" name="Text 22"/>
          <p:cNvSpPr/>
          <p:nvPr/>
        </p:nvSpPr>
        <p:spPr>
          <a:xfrm>
            <a:off x="4434840" y="189280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aggressive bike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weaving AI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 headlight glow</a:t>
            </a:r>
            <a:endParaRPr dirty="0" sz="950" lang="en-US"/>
          </a:p>
        </p:txBody>
      </p:sp>
      <p:sp>
        <p:nvSpPr>
          <p:cNvPr id="1048811" name="Shape 23"/>
          <p:cNvSpPr/>
          <p:nvPr/>
        </p:nvSpPr>
        <p:spPr>
          <a:xfrm>
            <a:off x="6172200" y="138988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12" name="Shape 24"/>
          <p:cNvSpPr/>
          <p:nvPr/>
        </p:nvSpPr>
        <p:spPr>
          <a:xfrm>
            <a:off x="6355080" y="1755648"/>
            <a:ext cx="914400" cy="914400"/>
          </a:xfrm>
          <a:prstGeom prst="ellipse"/>
          <a:solidFill>
            <a:srgbClr val="FFB300">
              <a:alpha val="80000"/>
            </a:srgbClr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048813" name="Text 25"/>
          <p:cNvSpPr/>
          <p:nvPr/>
        </p:nvSpPr>
        <p:spPr>
          <a:xfrm>
            <a:off x="6355080" y="175564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🪙</a:t>
            </a:r>
            <a:endParaRPr dirty="0" sz="2800" lang="en-US"/>
          </a:p>
        </p:txBody>
      </p:sp>
      <p:sp>
        <p:nvSpPr>
          <p:cNvPr id="1048814" name="Text 26"/>
          <p:cNvSpPr/>
          <p:nvPr/>
        </p:nvSpPr>
        <p:spPr>
          <a:xfrm>
            <a:off x="7360920" y="152704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Coin</a:t>
            </a:r>
            <a:endParaRPr dirty="0" sz="1200" lang="en-US"/>
          </a:p>
        </p:txBody>
      </p:sp>
      <p:sp>
        <p:nvSpPr>
          <p:cNvPr id="1048815" name="Text 27"/>
          <p:cNvSpPr/>
          <p:nvPr/>
        </p:nvSpPr>
        <p:spPr>
          <a:xfrm>
            <a:off x="7360920" y="189280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coin animation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glow pulse effect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bonus score</a:t>
            </a:r>
            <a:endParaRPr dirty="0" sz="950" lang="en-US"/>
          </a:p>
        </p:txBody>
      </p:sp>
      <p:sp>
        <p:nvSpPr>
          <p:cNvPr id="1048816" name="Shape 28"/>
          <p:cNvSpPr/>
          <p:nvPr/>
        </p:nvSpPr>
        <p:spPr>
          <a:xfrm>
            <a:off x="320040" y="312724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17" name="Shape 29"/>
          <p:cNvSpPr/>
          <p:nvPr/>
        </p:nvSpPr>
        <p:spPr>
          <a:xfrm>
            <a:off x="502920" y="3493008"/>
            <a:ext cx="914400" cy="914400"/>
          </a:xfrm>
          <a:prstGeom prst="ellipse"/>
          <a:solidFill>
            <a:srgbClr val="E64A19">
              <a:alpha val="80000"/>
            </a:srgbClr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48818" name="Text 30"/>
          <p:cNvSpPr/>
          <p:nvPr/>
        </p:nvSpPr>
        <p:spPr>
          <a:xfrm>
            <a:off x="502920" y="349300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🚧</a:t>
            </a:r>
            <a:endParaRPr dirty="0" sz="2800" lang="en-US"/>
          </a:p>
        </p:txBody>
      </p:sp>
      <p:sp>
        <p:nvSpPr>
          <p:cNvPr id="1048819" name="Text 31"/>
          <p:cNvSpPr/>
          <p:nvPr/>
        </p:nvSpPr>
        <p:spPr>
          <a:xfrm>
            <a:off x="1508760" y="326440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</a:t>
            </a:r>
            <a:endParaRPr dirty="0" sz="1200" lang="en-US"/>
          </a:p>
        </p:txBody>
      </p:sp>
      <p:sp>
        <p:nvSpPr>
          <p:cNvPr id="1048820" name="Text 32"/>
          <p:cNvSpPr/>
          <p:nvPr/>
        </p:nvSpPr>
        <p:spPr>
          <a:xfrm>
            <a:off x="1508760" y="363016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barrel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warning glow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slight sway animation</a:t>
            </a:r>
            <a:endParaRPr dirty="0" sz="950" lang="en-US"/>
          </a:p>
        </p:txBody>
      </p:sp>
      <p:sp>
        <p:nvSpPr>
          <p:cNvPr id="1048821" name="Shape 33"/>
          <p:cNvSpPr/>
          <p:nvPr/>
        </p:nvSpPr>
        <p:spPr>
          <a:xfrm>
            <a:off x="3246120" y="312724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22" name="Shape 34"/>
          <p:cNvSpPr/>
          <p:nvPr/>
        </p:nvSpPr>
        <p:spPr>
          <a:xfrm>
            <a:off x="3429000" y="3493008"/>
            <a:ext cx="914400" cy="914400"/>
          </a:xfrm>
          <a:prstGeom prst="ellipse"/>
          <a:solidFill>
            <a:srgbClr val="FF6D00">
              <a:alpha val="80000"/>
            </a:srgbClr>
          </a:solidFill>
          <a:ln w="25400">
            <a:solidFill>
              <a:srgbClr val="FF6D00"/>
            </a:solidFill>
            <a:prstDash val="solid"/>
          </a:ln>
        </p:spPr>
      </p:sp>
      <p:sp>
        <p:nvSpPr>
          <p:cNvPr id="1048823" name="Text 35"/>
          <p:cNvSpPr/>
          <p:nvPr/>
        </p:nvSpPr>
        <p:spPr>
          <a:xfrm>
            <a:off x="3429000" y="349300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💥</a:t>
            </a:r>
            <a:endParaRPr dirty="0" sz="2800" lang="en-US"/>
          </a:p>
        </p:txBody>
      </p:sp>
      <p:sp>
        <p:nvSpPr>
          <p:cNvPr id="1048824" name="Text 36"/>
          <p:cNvSpPr/>
          <p:nvPr/>
        </p:nvSpPr>
        <p:spPr>
          <a:xfrm>
            <a:off x="4434840" y="326440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</a:t>
            </a:r>
            <a:endParaRPr dirty="0" sz="1200" lang="en-US"/>
          </a:p>
        </p:txBody>
      </p:sp>
      <p:sp>
        <p:nvSpPr>
          <p:cNvPr id="1048825" name="Text 37"/>
          <p:cNvSpPr/>
          <p:nvPr/>
        </p:nvSpPr>
        <p:spPr>
          <a:xfrm>
            <a:off x="4434840" y="363016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24-particle system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fade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sparks on crash</a:t>
            </a:r>
            <a:endParaRPr dirty="0" sz="950" lang="en-US"/>
          </a:p>
        </p:txBody>
      </p:sp>
      <p:sp>
        <p:nvSpPr>
          <p:cNvPr id="1048826" name="Shape 38"/>
          <p:cNvSpPr/>
          <p:nvPr/>
        </p:nvSpPr>
        <p:spPr>
          <a:xfrm>
            <a:off x="6172200" y="3127248"/>
            <a:ext cx="2743200" cy="16002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27" name="Shape 39"/>
          <p:cNvSpPr/>
          <p:nvPr/>
        </p:nvSpPr>
        <p:spPr>
          <a:xfrm>
            <a:off x="6355080" y="3493008"/>
            <a:ext cx="914400" cy="914400"/>
          </a:xfrm>
          <a:prstGeom prst="ellipse"/>
          <a:solidFill>
            <a:srgbClr val="263238">
              <a:alpha val="80000"/>
            </a:srgbClr>
          </a:solidFill>
          <a:ln w="25400">
            <a:solidFill>
              <a:srgbClr val="263238"/>
            </a:solidFill>
            <a:prstDash val="solid"/>
          </a:ln>
        </p:spPr>
      </p:sp>
      <p:sp>
        <p:nvSpPr>
          <p:cNvPr id="1048828" name="Text 40"/>
          <p:cNvSpPr/>
          <p:nvPr/>
        </p:nvSpPr>
        <p:spPr>
          <a:xfrm>
            <a:off x="6355080" y="3493008"/>
            <a:ext cx="914400" cy="91440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800" lang="en-US">
                <a:solidFill>
                  <a:srgbClr val="000000"/>
                </a:solidFill>
              </a:rPr>
              <a:t>🛣</a:t>
            </a:r>
            <a:endParaRPr dirty="0" sz="2800" lang="en-US"/>
          </a:p>
        </p:txBody>
      </p:sp>
      <p:sp>
        <p:nvSpPr>
          <p:cNvPr id="1048829" name="Text 41"/>
          <p:cNvSpPr/>
          <p:nvPr/>
        </p:nvSpPr>
        <p:spPr>
          <a:xfrm>
            <a:off x="7360920" y="3264408"/>
            <a:ext cx="141732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BG</a:t>
            </a:r>
            <a:endParaRPr dirty="0" sz="1200" lang="en-US"/>
          </a:p>
        </p:txBody>
      </p:sp>
      <p:sp>
        <p:nvSpPr>
          <p:cNvPr id="1048830" name="Text 42"/>
          <p:cNvSpPr/>
          <p:nvPr/>
        </p:nvSpPr>
        <p:spPr>
          <a:xfrm>
            <a:off x="7360920" y="3630168"/>
            <a:ext cx="1417320" cy="9144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city highway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3-lane scrolling road</a:t>
            </a:r>
            <a:endParaRPr dirty="0" sz="950" lang="en-US"/>
          </a:p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rumble strips</a:t>
            </a:r>
            <a:endParaRPr dirty="0" sz="95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35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36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37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38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39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40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41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42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43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44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845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TECH STACK</a:t>
            </a:r>
            <a:endParaRPr dirty="0" sz="1000" lang="en-US"/>
          </a:p>
        </p:txBody>
      </p:sp>
      <p:sp>
        <p:nvSpPr>
          <p:cNvPr id="1048846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dirty="0" sz="3600" lang="en-US"/>
          </a:p>
        </p:txBody>
      </p:sp>
      <p:sp>
        <p:nvSpPr>
          <p:cNvPr id="1048847" name="Shape 13"/>
          <p:cNvSpPr/>
          <p:nvPr/>
        </p:nvSpPr>
        <p:spPr>
          <a:xfrm>
            <a:off x="320040" y="137160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48" name="Shape 14"/>
          <p:cNvSpPr/>
          <p:nvPr/>
        </p:nvSpPr>
        <p:spPr>
          <a:xfrm>
            <a:off x="320040" y="1371600"/>
            <a:ext cx="45720" cy="7498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849" name="Text 15"/>
          <p:cNvSpPr/>
          <p:nvPr/>
        </p:nvSpPr>
        <p:spPr>
          <a:xfrm>
            <a:off x="429768" y="146304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☕</a:t>
            </a:r>
            <a:endParaRPr dirty="0" sz="2000" lang="en-US"/>
          </a:p>
        </p:txBody>
      </p:sp>
      <p:sp>
        <p:nvSpPr>
          <p:cNvPr id="1048850" name="Text 16"/>
          <p:cNvSpPr/>
          <p:nvPr/>
        </p:nvSpPr>
        <p:spPr>
          <a:xfrm>
            <a:off x="978408" y="144475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dirty="0" sz="1200" lang="en-US"/>
          </a:p>
        </p:txBody>
      </p:sp>
      <p:sp>
        <p:nvSpPr>
          <p:cNvPr id="1048851" name="Text 17"/>
          <p:cNvSpPr/>
          <p:nvPr/>
        </p:nvSpPr>
        <p:spPr>
          <a:xfrm>
            <a:off x="978408" y="173736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— all game logic, OOP architecture</a:t>
            </a:r>
            <a:endParaRPr dirty="0" sz="950" lang="en-US"/>
          </a:p>
        </p:txBody>
      </p:sp>
      <p:sp>
        <p:nvSpPr>
          <p:cNvPr id="1048852" name="Shape 18"/>
          <p:cNvSpPr/>
          <p:nvPr/>
        </p:nvSpPr>
        <p:spPr>
          <a:xfrm>
            <a:off x="4754880" y="137160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53" name="Shape 19"/>
          <p:cNvSpPr/>
          <p:nvPr/>
        </p:nvSpPr>
        <p:spPr>
          <a:xfrm>
            <a:off x="4754880" y="1371600"/>
            <a:ext cx="45720" cy="749808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854" name="Text 20"/>
          <p:cNvSpPr/>
          <p:nvPr/>
        </p:nvSpPr>
        <p:spPr>
          <a:xfrm>
            <a:off x="4864608" y="146304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🛠</a:t>
            </a:r>
            <a:endParaRPr dirty="0" sz="2000" lang="en-US"/>
          </a:p>
        </p:txBody>
      </p:sp>
      <p:sp>
        <p:nvSpPr>
          <p:cNvPr id="1048855" name="Text 21"/>
          <p:cNvSpPr/>
          <p:nvPr/>
        </p:nvSpPr>
        <p:spPr>
          <a:xfrm>
            <a:off x="5413248" y="144475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Studio</a:t>
            </a:r>
            <a:endParaRPr dirty="0" sz="1200" lang="en-US"/>
          </a:p>
        </p:txBody>
      </p:sp>
      <p:sp>
        <p:nvSpPr>
          <p:cNvPr id="1048856" name="Text 22"/>
          <p:cNvSpPr/>
          <p:nvPr/>
        </p:nvSpPr>
        <p:spPr>
          <a:xfrm>
            <a:off x="5413248" y="173736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— Flamingo/Giraffe, Gradle build system</a:t>
            </a:r>
            <a:endParaRPr dirty="0" sz="950" lang="en-US"/>
          </a:p>
        </p:txBody>
      </p:sp>
      <p:sp>
        <p:nvSpPr>
          <p:cNvPr id="1048857" name="Shape 23"/>
          <p:cNvSpPr/>
          <p:nvPr/>
        </p:nvSpPr>
        <p:spPr>
          <a:xfrm>
            <a:off x="320040" y="224028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58" name="Shape 24"/>
          <p:cNvSpPr/>
          <p:nvPr/>
        </p:nvSpPr>
        <p:spPr>
          <a:xfrm>
            <a:off x="320040" y="2240280"/>
            <a:ext cx="45720" cy="749808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859" name="Text 25"/>
          <p:cNvSpPr/>
          <p:nvPr/>
        </p:nvSpPr>
        <p:spPr>
          <a:xfrm>
            <a:off x="429768" y="233172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🎨</a:t>
            </a:r>
            <a:endParaRPr dirty="0" sz="2000" lang="en-US"/>
          </a:p>
        </p:txBody>
      </p:sp>
      <p:sp>
        <p:nvSpPr>
          <p:cNvPr id="1048860" name="Text 26"/>
          <p:cNvSpPr/>
          <p:nvPr/>
        </p:nvSpPr>
        <p:spPr>
          <a:xfrm>
            <a:off x="978408" y="231343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SurfaceView</a:t>
            </a:r>
            <a:endParaRPr dirty="0" sz="1200" lang="en-US"/>
          </a:p>
        </p:txBody>
      </p:sp>
      <p:sp>
        <p:nvSpPr>
          <p:cNvPr id="1048861" name="Text 27"/>
          <p:cNvSpPr/>
          <p:nvPr/>
        </p:nvSpPr>
        <p:spPr>
          <a:xfrm>
            <a:off x="978408" y="260604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2D canvas rendering at 60 FPS</a:t>
            </a:r>
            <a:endParaRPr dirty="0" sz="950" lang="en-US"/>
          </a:p>
        </p:txBody>
      </p:sp>
      <p:sp>
        <p:nvSpPr>
          <p:cNvPr id="1048862" name="Shape 28"/>
          <p:cNvSpPr/>
          <p:nvPr/>
        </p:nvSpPr>
        <p:spPr>
          <a:xfrm>
            <a:off x="4754880" y="224028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63" name="Shape 29"/>
          <p:cNvSpPr/>
          <p:nvPr/>
        </p:nvSpPr>
        <p:spPr>
          <a:xfrm>
            <a:off x="4754880" y="2240280"/>
            <a:ext cx="45720" cy="749808"/>
          </a:xfrm>
          <a:prstGeom prst="rect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864" name="Text 30"/>
          <p:cNvSpPr/>
          <p:nvPr/>
        </p:nvSpPr>
        <p:spPr>
          <a:xfrm>
            <a:off x="4864608" y="233172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🔊</a:t>
            </a:r>
            <a:endParaRPr dirty="0" sz="2000" lang="en-US"/>
          </a:p>
        </p:txBody>
      </p:sp>
      <p:sp>
        <p:nvSpPr>
          <p:cNvPr id="1048865" name="Text 31"/>
          <p:cNvSpPr/>
          <p:nvPr/>
        </p:nvSpPr>
        <p:spPr>
          <a:xfrm>
            <a:off x="5413248" y="231343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SoundPool + MP</a:t>
            </a:r>
            <a:endParaRPr dirty="0" sz="1200" lang="en-US"/>
          </a:p>
        </p:txBody>
      </p:sp>
      <p:sp>
        <p:nvSpPr>
          <p:cNvPr id="1048866" name="Text 32"/>
          <p:cNvSpPr/>
          <p:nvPr/>
        </p:nvSpPr>
        <p:spPr>
          <a:xfrm>
            <a:off x="5413248" y="260604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 playback + continuous engine loop via MediaPlayer</a:t>
            </a:r>
            <a:endParaRPr dirty="0" sz="950" lang="en-US"/>
          </a:p>
        </p:txBody>
      </p:sp>
      <p:sp>
        <p:nvSpPr>
          <p:cNvPr id="1048867" name="Shape 33"/>
          <p:cNvSpPr/>
          <p:nvPr/>
        </p:nvSpPr>
        <p:spPr>
          <a:xfrm>
            <a:off x="320040" y="310896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68" name="Shape 34"/>
          <p:cNvSpPr/>
          <p:nvPr/>
        </p:nvSpPr>
        <p:spPr>
          <a:xfrm>
            <a:off x="320040" y="3108960"/>
            <a:ext cx="45720" cy="749808"/>
          </a:xfrm>
          <a:prstGeom prst="rect"/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8869" name="Text 35"/>
          <p:cNvSpPr/>
          <p:nvPr/>
        </p:nvSpPr>
        <p:spPr>
          <a:xfrm>
            <a:off x="429768" y="320040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💾</a:t>
            </a:r>
            <a:endParaRPr dirty="0" sz="2000" lang="en-US"/>
          </a:p>
        </p:txBody>
      </p:sp>
      <p:sp>
        <p:nvSpPr>
          <p:cNvPr id="1048870" name="Text 36"/>
          <p:cNvSpPr/>
          <p:nvPr/>
        </p:nvSpPr>
        <p:spPr>
          <a:xfrm>
            <a:off x="978408" y="318211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SharedPreferences</a:t>
            </a:r>
            <a:endParaRPr dirty="0" sz="1200" lang="en-US"/>
          </a:p>
        </p:txBody>
      </p:sp>
      <p:sp>
        <p:nvSpPr>
          <p:cNvPr id="1048871" name="Text 37"/>
          <p:cNvSpPr/>
          <p:nvPr/>
        </p:nvSpPr>
        <p:spPr>
          <a:xfrm>
            <a:off x="978408" y="347472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key-value storage for high scores</a:t>
            </a:r>
            <a:endParaRPr dirty="0" sz="950" lang="en-US"/>
          </a:p>
        </p:txBody>
      </p:sp>
      <p:sp>
        <p:nvSpPr>
          <p:cNvPr id="1048872" name="Shape 38"/>
          <p:cNvSpPr/>
          <p:nvPr/>
        </p:nvSpPr>
        <p:spPr>
          <a:xfrm>
            <a:off x="4754880" y="310896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73" name="Shape 39"/>
          <p:cNvSpPr/>
          <p:nvPr/>
        </p:nvSpPr>
        <p:spPr>
          <a:xfrm>
            <a:off x="4754880" y="3108960"/>
            <a:ext cx="45720" cy="749808"/>
          </a:xfrm>
          <a:prstGeom prst="rect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874" name="Text 40"/>
          <p:cNvSpPr/>
          <p:nvPr/>
        </p:nvSpPr>
        <p:spPr>
          <a:xfrm>
            <a:off x="4864608" y="320040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🖼</a:t>
            </a:r>
            <a:endParaRPr dirty="0" sz="2000" lang="en-US"/>
          </a:p>
        </p:txBody>
      </p:sp>
      <p:sp>
        <p:nvSpPr>
          <p:cNvPr id="1048875" name="Text 41"/>
          <p:cNvSpPr/>
          <p:nvPr/>
        </p:nvSpPr>
        <p:spPr>
          <a:xfrm>
            <a:off x="5413248" y="318211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Drawables</a:t>
            </a:r>
            <a:endParaRPr dirty="0" sz="1200" lang="en-US"/>
          </a:p>
        </p:txBody>
      </p:sp>
      <p:sp>
        <p:nvSpPr>
          <p:cNvPr id="1048876" name="Text 42"/>
          <p:cNvSpPr/>
          <p:nvPr/>
        </p:nvSpPr>
        <p:spPr>
          <a:xfrm>
            <a:off x="5413248" y="347472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game assets — crisp on all screen densities</a:t>
            </a:r>
            <a:endParaRPr dirty="0" sz="950" lang="en-US"/>
          </a:p>
        </p:txBody>
      </p:sp>
      <p:sp>
        <p:nvSpPr>
          <p:cNvPr id="1048877" name="Shape 43"/>
          <p:cNvSpPr/>
          <p:nvPr/>
        </p:nvSpPr>
        <p:spPr>
          <a:xfrm>
            <a:off x="320040" y="397764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78" name="Shape 44"/>
          <p:cNvSpPr/>
          <p:nvPr/>
        </p:nvSpPr>
        <p:spPr>
          <a:xfrm>
            <a:off x="320040" y="3977640"/>
            <a:ext cx="45720" cy="749808"/>
          </a:xfrm>
          <a:prstGeom prst="rect"/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48879" name="Text 45"/>
          <p:cNvSpPr/>
          <p:nvPr/>
        </p:nvSpPr>
        <p:spPr>
          <a:xfrm>
            <a:off x="429768" y="406908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📱</a:t>
            </a:r>
            <a:endParaRPr dirty="0" sz="2000" lang="en-US"/>
          </a:p>
        </p:txBody>
      </p:sp>
      <p:sp>
        <p:nvSpPr>
          <p:cNvPr id="1048880" name="Text 46"/>
          <p:cNvSpPr/>
          <p:nvPr/>
        </p:nvSpPr>
        <p:spPr>
          <a:xfrm>
            <a:off x="978408" y="405079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SDK: API 21</a:t>
            </a:r>
            <a:endParaRPr dirty="0" sz="1200" lang="en-US"/>
          </a:p>
        </p:txBody>
      </p:sp>
      <p:sp>
        <p:nvSpPr>
          <p:cNvPr id="1048881" name="Text 47"/>
          <p:cNvSpPr/>
          <p:nvPr/>
        </p:nvSpPr>
        <p:spPr>
          <a:xfrm>
            <a:off x="978408" y="434340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5.0+ — covers 98%+ of active Android devices</a:t>
            </a:r>
            <a:endParaRPr dirty="0" sz="950" lang="en-US"/>
          </a:p>
        </p:txBody>
      </p:sp>
      <p:sp>
        <p:nvSpPr>
          <p:cNvPr id="1048882" name="Shape 48"/>
          <p:cNvSpPr/>
          <p:nvPr/>
        </p:nvSpPr>
        <p:spPr>
          <a:xfrm>
            <a:off x="4754880" y="3977640"/>
            <a:ext cx="42062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883" name="Shape 49"/>
          <p:cNvSpPr/>
          <p:nvPr/>
        </p:nvSpPr>
        <p:spPr>
          <a:xfrm>
            <a:off x="4754880" y="3977640"/>
            <a:ext cx="45720" cy="7498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884" name="Text 50"/>
          <p:cNvSpPr/>
          <p:nvPr/>
        </p:nvSpPr>
        <p:spPr>
          <a:xfrm>
            <a:off x="4864608" y="4069080"/>
            <a:ext cx="502920" cy="5486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2000" lang="en-US">
                <a:solidFill>
                  <a:srgbClr val="000000"/>
                </a:solidFill>
              </a:rPr>
              <a:t>🧵</a:t>
            </a:r>
            <a:endParaRPr dirty="0" sz="2000" lang="en-US"/>
          </a:p>
        </p:txBody>
      </p:sp>
      <p:sp>
        <p:nvSpPr>
          <p:cNvPr id="1048885" name="Text 51"/>
          <p:cNvSpPr/>
          <p:nvPr/>
        </p:nvSpPr>
        <p:spPr>
          <a:xfrm>
            <a:off x="5413248" y="4050792"/>
            <a:ext cx="338328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GameThread</a:t>
            </a:r>
            <a:endParaRPr dirty="0" sz="1200" lang="en-US"/>
          </a:p>
        </p:txBody>
      </p:sp>
      <p:sp>
        <p:nvSpPr>
          <p:cNvPr id="1048886" name="Text 52"/>
          <p:cNvSpPr/>
          <p:nvPr/>
        </p:nvSpPr>
        <p:spPr>
          <a:xfrm>
            <a:off x="5413248" y="4343400"/>
            <a:ext cx="338328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background thread for smooth game loop</a:t>
            </a:r>
            <a:endParaRPr dirty="0" sz="9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1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2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3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4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5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6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7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8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899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00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01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GAME FLOW</a:t>
            </a:r>
            <a:endParaRPr dirty="0" sz="1000" lang="en-US"/>
          </a:p>
        </p:txBody>
      </p:sp>
      <p:sp>
        <p:nvSpPr>
          <p:cNvPr id="1048902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Flow &amp; Logic</a:t>
            </a:r>
            <a:endParaRPr dirty="0" sz="3600" lang="en-US"/>
          </a:p>
        </p:txBody>
      </p:sp>
      <p:sp>
        <p:nvSpPr>
          <p:cNvPr id="1048903" name="Shape 13"/>
          <p:cNvSpPr/>
          <p:nvPr/>
        </p:nvSpPr>
        <p:spPr>
          <a:xfrm>
            <a:off x="365760" y="1371600"/>
            <a:ext cx="1572768" cy="2560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04" name="Shape 14"/>
          <p:cNvSpPr/>
          <p:nvPr/>
        </p:nvSpPr>
        <p:spPr>
          <a:xfrm>
            <a:off x="365760" y="1371600"/>
            <a:ext cx="1572768" cy="73152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905" name="Text 15"/>
          <p:cNvSpPr/>
          <p:nvPr/>
        </p:nvSpPr>
        <p:spPr>
          <a:xfrm>
            <a:off x="365760" y="1554480"/>
            <a:ext cx="1572768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000" lang="en-US">
                <a:solidFill>
                  <a:srgbClr val="000000"/>
                </a:solidFill>
              </a:rPr>
              <a:t>🚀</a:t>
            </a:r>
            <a:endParaRPr dirty="0" sz="3000" lang="en-US"/>
          </a:p>
        </p:txBody>
      </p:sp>
      <p:sp>
        <p:nvSpPr>
          <p:cNvPr id="1048906" name="Text 16"/>
          <p:cNvSpPr/>
          <p:nvPr/>
        </p:nvSpPr>
        <p:spPr>
          <a:xfrm>
            <a:off x="411480" y="2331720"/>
            <a:ext cx="148132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</a:t>
            </a:r>
            <a:endParaRPr dirty="0" sz="1300" lang="en-US"/>
          </a:p>
        </p:txBody>
      </p:sp>
      <p:sp>
        <p:nvSpPr>
          <p:cNvPr id="1048907" name="Text 17"/>
          <p:cNvSpPr/>
          <p:nvPr/>
        </p:nvSpPr>
        <p:spPr>
          <a:xfrm>
            <a:off x="411480" y="2743200"/>
            <a:ext cx="1481328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SplashActivity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loading animation</a:t>
            </a:r>
            <a:endParaRPr dirty="0" sz="950" lang="en-US"/>
          </a:p>
        </p:txBody>
      </p:sp>
      <p:sp>
        <p:nvSpPr>
          <p:cNvPr id="1048908" name="Shape 18"/>
          <p:cNvSpPr/>
          <p:nvPr/>
        </p:nvSpPr>
        <p:spPr>
          <a:xfrm>
            <a:off x="950976" y="3749040"/>
            <a:ext cx="402336" cy="402336"/>
          </a:xfrm>
          <a:prstGeom prst="ellipse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909" name="Text 19"/>
          <p:cNvSpPr/>
          <p:nvPr/>
        </p:nvSpPr>
        <p:spPr>
          <a:xfrm>
            <a:off x="950976" y="3749040"/>
            <a:ext cx="402336" cy="40233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1</a:t>
            </a:r>
            <a:endParaRPr dirty="0" sz="1200" lang="en-US"/>
          </a:p>
        </p:txBody>
      </p:sp>
      <p:sp>
        <p:nvSpPr>
          <p:cNvPr id="1048910" name="Shape 20"/>
          <p:cNvSpPr/>
          <p:nvPr/>
        </p:nvSpPr>
        <p:spPr>
          <a:xfrm>
            <a:off x="1938528" y="2651760"/>
            <a:ext cx="228600" cy="0"/>
          </a:xfrm>
          <a:prstGeom prst="line"/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1048911" name="Shape 21"/>
          <p:cNvSpPr/>
          <p:nvPr/>
        </p:nvSpPr>
        <p:spPr>
          <a:xfrm>
            <a:off x="2167128" y="1371600"/>
            <a:ext cx="1572768" cy="2560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12" name="Shape 22"/>
          <p:cNvSpPr/>
          <p:nvPr/>
        </p:nvSpPr>
        <p:spPr>
          <a:xfrm>
            <a:off x="2167128" y="1371600"/>
            <a:ext cx="1572768" cy="73152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913" name="Text 23"/>
          <p:cNvSpPr/>
          <p:nvPr/>
        </p:nvSpPr>
        <p:spPr>
          <a:xfrm>
            <a:off x="2167128" y="1554480"/>
            <a:ext cx="1572768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000" lang="en-US">
                <a:solidFill>
                  <a:srgbClr val="000000"/>
                </a:solidFill>
              </a:rPr>
              <a:t>🏠</a:t>
            </a:r>
            <a:endParaRPr dirty="0" sz="3000" lang="en-US"/>
          </a:p>
        </p:txBody>
      </p:sp>
      <p:sp>
        <p:nvSpPr>
          <p:cNvPr id="1048914" name="Text 24"/>
          <p:cNvSpPr/>
          <p:nvPr/>
        </p:nvSpPr>
        <p:spPr>
          <a:xfrm>
            <a:off x="2212848" y="2331720"/>
            <a:ext cx="148132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Menu</a:t>
            </a:r>
            <a:endParaRPr dirty="0" sz="1300" lang="en-US"/>
          </a:p>
        </p:txBody>
      </p:sp>
      <p:sp>
        <p:nvSpPr>
          <p:cNvPr id="1048915" name="Text 25"/>
          <p:cNvSpPr/>
          <p:nvPr/>
        </p:nvSpPr>
        <p:spPr>
          <a:xfrm>
            <a:off x="2212848" y="2743200"/>
            <a:ext cx="1481328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HomeActivity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 display</a:t>
            </a:r>
            <a:endParaRPr dirty="0" sz="950" lang="en-US"/>
          </a:p>
        </p:txBody>
      </p:sp>
      <p:sp>
        <p:nvSpPr>
          <p:cNvPr id="1048916" name="Shape 26"/>
          <p:cNvSpPr/>
          <p:nvPr/>
        </p:nvSpPr>
        <p:spPr>
          <a:xfrm>
            <a:off x="2752344" y="3749040"/>
            <a:ext cx="402336" cy="402336"/>
          </a:xfrm>
          <a:prstGeom prst="ellipse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917" name="Text 27"/>
          <p:cNvSpPr/>
          <p:nvPr/>
        </p:nvSpPr>
        <p:spPr>
          <a:xfrm>
            <a:off x="2752344" y="3749040"/>
            <a:ext cx="402336" cy="40233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2</a:t>
            </a:r>
            <a:endParaRPr dirty="0" sz="1200" lang="en-US"/>
          </a:p>
        </p:txBody>
      </p:sp>
      <p:sp>
        <p:nvSpPr>
          <p:cNvPr id="1048918" name="Shape 28"/>
          <p:cNvSpPr/>
          <p:nvPr/>
        </p:nvSpPr>
        <p:spPr>
          <a:xfrm>
            <a:off x="3739896" y="2651760"/>
            <a:ext cx="228600" cy="0"/>
          </a:xfrm>
          <a:prstGeom prst="line"/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1048919" name="Shape 29"/>
          <p:cNvSpPr/>
          <p:nvPr/>
        </p:nvSpPr>
        <p:spPr>
          <a:xfrm>
            <a:off x="3968496" y="1371600"/>
            <a:ext cx="1572768" cy="2560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20" name="Shape 30"/>
          <p:cNvSpPr/>
          <p:nvPr/>
        </p:nvSpPr>
        <p:spPr>
          <a:xfrm>
            <a:off x="3968496" y="1371600"/>
            <a:ext cx="1572768" cy="73152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21" name="Text 31"/>
          <p:cNvSpPr/>
          <p:nvPr/>
        </p:nvSpPr>
        <p:spPr>
          <a:xfrm>
            <a:off x="3968496" y="1554480"/>
            <a:ext cx="1572768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000" lang="en-US">
                <a:solidFill>
                  <a:srgbClr val="000000"/>
                </a:solidFill>
              </a:rPr>
              <a:t>🎮</a:t>
            </a:r>
            <a:endParaRPr dirty="0" sz="3000" lang="en-US"/>
          </a:p>
        </p:txBody>
      </p:sp>
      <p:sp>
        <p:nvSpPr>
          <p:cNvPr id="1048922" name="Text 32"/>
          <p:cNvSpPr/>
          <p:nvPr/>
        </p:nvSpPr>
        <p:spPr>
          <a:xfrm>
            <a:off x="4014216" y="2331720"/>
            <a:ext cx="148132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</a:t>
            </a:r>
            <a:endParaRPr dirty="0" sz="1300" lang="en-US"/>
          </a:p>
        </p:txBody>
      </p:sp>
      <p:sp>
        <p:nvSpPr>
          <p:cNvPr id="1048923" name="Text 33"/>
          <p:cNvSpPr/>
          <p:nvPr/>
        </p:nvSpPr>
        <p:spPr>
          <a:xfrm>
            <a:off x="4014216" y="2743200"/>
            <a:ext cx="1481328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GameView 60 FPS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controls</a:t>
            </a:r>
            <a:endParaRPr dirty="0" sz="950" lang="en-US"/>
          </a:p>
        </p:txBody>
      </p:sp>
      <p:sp>
        <p:nvSpPr>
          <p:cNvPr id="1048924" name="Shape 34"/>
          <p:cNvSpPr/>
          <p:nvPr/>
        </p:nvSpPr>
        <p:spPr>
          <a:xfrm>
            <a:off x="4553712" y="3749040"/>
            <a:ext cx="402336" cy="402336"/>
          </a:xfrm>
          <a:prstGeom prst="ellipse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25" name="Text 35"/>
          <p:cNvSpPr/>
          <p:nvPr/>
        </p:nvSpPr>
        <p:spPr>
          <a:xfrm>
            <a:off x="4553712" y="3749040"/>
            <a:ext cx="402336" cy="40233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3</a:t>
            </a:r>
            <a:endParaRPr dirty="0" sz="1200" lang="en-US"/>
          </a:p>
        </p:txBody>
      </p:sp>
      <p:sp>
        <p:nvSpPr>
          <p:cNvPr id="1048926" name="Shape 36"/>
          <p:cNvSpPr/>
          <p:nvPr/>
        </p:nvSpPr>
        <p:spPr>
          <a:xfrm>
            <a:off x="5541264" y="2651760"/>
            <a:ext cx="228600" cy="0"/>
          </a:xfrm>
          <a:prstGeom prst="line"/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1048927" name="Shape 37"/>
          <p:cNvSpPr/>
          <p:nvPr/>
        </p:nvSpPr>
        <p:spPr>
          <a:xfrm>
            <a:off x="5769864" y="1371600"/>
            <a:ext cx="1572768" cy="2560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28" name="Shape 38"/>
          <p:cNvSpPr/>
          <p:nvPr/>
        </p:nvSpPr>
        <p:spPr>
          <a:xfrm>
            <a:off x="5769864" y="1371600"/>
            <a:ext cx="1572768" cy="73152"/>
          </a:xfrm>
          <a:prstGeom prst="rect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929" name="Text 39"/>
          <p:cNvSpPr/>
          <p:nvPr/>
        </p:nvSpPr>
        <p:spPr>
          <a:xfrm>
            <a:off x="5769864" y="1554480"/>
            <a:ext cx="1572768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000" lang="en-US">
                <a:solidFill>
                  <a:srgbClr val="000000"/>
                </a:solidFill>
              </a:rPr>
              <a:t>💥</a:t>
            </a:r>
            <a:endParaRPr dirty="0" sz="3000" lang="en-US"/>
          </a:p>
        </p:txBody>
      </p:sp>
      <p:sp>
        <p:nvSpPr>
          <p:cNvPr id="1048930" name="Text 40"/>
          <p:cNvSpPr/>
          <p:nvPr/>
        </p:nvSpPr>
        <p:spPr>
          <a:xfrm>
            <a:off x="5815584" y="2331720"/>
            <a:ext cx="148132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Crash!</a:t>
            </a:r>
            <a:endParaRPr dirty="0" sz="1300" lang="en-US"/>
          </a:p>
        </p:txBody>
      </p:sp>
      <p:sp>
        <p:nvSpPr>
          <p:cNvPr id="1048931" name="Text 41"/>
          <p:cNvSpPr/>
          <p:nvPr/>
        </p:nvSpPr>
        <p:spPr>
          <a:xfrm>
            <a:off x="5815584" y="2743200"/>
            <a:ext cx="1481328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effect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1 life</a:t>
            </a:r>
            <a:endParaRPr dirty="0" sz="950" lang="en-US"/>
          </a:p>
        </p:txBody>
      </p:sp>
      <p:sp>
        <p:nvSpPr>
          <p:cNvPr id="1048932" name="Shape 42"/>
          <p:cNvSpPr/>
          <p:nvPr/>
        </p:nvSpPr>
        <p:spPr>
          <a:xfrm>
            <a:off x="6355080" y="3749040"/>
            <a:ext cx="402336" cy="402336"/>
          </a:xfrm>
          <a:prstGeom prst="ellipse"/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1048933" name="Text 43"/>
          <p:cNvSpPr/>
          <p:nvPr/>
        </p:nvSpPr>
        <p:spPr>
          <a:xfrm>
            <a:off x="6355080" y="3749040"/>
            <a:ext cx="402336" cy="40233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4</a:t>
            </a:r>
            <a:endParaRPr dirty="0" sz="1200" lang="en-US"/>
          </a:p>
        </p:txBody>
      </p:sp>
      <p:sp>
        <p:nvSpPr>
          <p:cNvPr id="1048934" name="Shape 44"/>
          <p:cNvSpPr/>
          <p:nvPr/>
        </p:nvSpPr>
        <p:spPr>
          <a:xfrm>
            <a:off x="7342632" y="2651760"/>
            <a:ext cx="228600" cy="0"/>
          </a:xfrm>
          <a:prstGeom prst="line"/>
          <a:noFill/>
          <a:ln w="25400">
            <a:solidFill>
              <a:srgbClr val="FF6D00"/>
            </a:solidFill>
            <a:prstDash val="solid"/>
          </a:ln>
        </p:spPr>
      </p:sp>
      <p:sp>
        <p:nvSpPr>
          <p:cNvPr id="1048935" name="Shape 45"/>
          <p:cNvSpPr/>
          <p:nvPr/>
        </p:nvSpPr>
        <p:spPr>
          <a:xfrm>
            <a:off x="7571232" y="1371600"/>
            <a:ext cx="1572768" cy="256032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36" name="Shape 46"/>
          <p:cNvSpPr/>
          <p:nvPr/>
        </p:nvSpPr>
        <p:spPr>
          <a:xfrm>
            <a:off x="7571232" y="1371600"/>
            <a:ext cx="1572768" cy="73152"/>
          </a:xfrm>
          <a:prstGeom prst="rect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937" name="Text 47"/>
          <p:cNvSpPr/>
          <p:nvPr/>
        </p:nvSpPr>
        <p:spPr>
          <a:xfrm>
            <a:off x="7571232" y="1554480"/>
            <a:ext cx="1572768" cy="7315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3000" lang="en-US">
                <a:solidFill>
                  <a:srgbClr val="000000"/>
                </a:solidFill>
              </a:rPr>
              <a:t>🏁</a:t>
            </a:r>
            <a:endParaRPr dirty="0" sz="3000" lang="en-US"/>
          </a:p>
        </p:txBody>
      </p:sp>
      <p:sp>
        <p:nvSpPr>
          <p:cNvPr id="1048938" name="Text 48"/>
          <p:cNvSpPr/>
          <p:nvPr/>
        </p:nvSpPr>
        <p:spPr>
          <a:xfrm>
            <a:off x="7616952" y="2331720"/>
            <a:ext cx="148132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dirty="0" sz="1300" lang="en-US"/>
          </a:p>
        </p:txBody>
      </p:sp>
      <p:sp>
        <p:nvSpPr>
          <p:cNvPr id="1048939" name="Text 49"/>
          <p:cNvSpPr/>
          <p:nvPr/>
        </p:nvSpPr>
        <p:spPr>
          <a:xfrm>
            <a:off x="7616952" y="2743200"/>
            <a:ext cx="1481328" cy="6400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GameOverActivity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recap</a:t>
            </a:r>
            <a:endParaRPr dirty="0" sz="950" lang="en-US"/>
          </a:p>
        </p:txBody>
      </p:sp>
      <p:sp>
        <p:nvSpPr>
          <p:cNvPr id="1048940" name="Shape 50"/>
          <p:cNvSpPr/>
          <p:nvPr/>
        </p:nvSpPr>
        <p:spPr>
          <a:xfrm>
            <a:off x="8156448" y="3749040"/>
            <a:ext cx="402336" cy="402336"/>
          </a:xfrm>
          <a:prstGeom prst="ellipse"/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48941" name="Text 51"/>
          <p:cNvSpPr/>
          <p:nvPr/>
        </p:nvSpPr>
        <p:spPr>
          <a:xfrm>
            <a:off x="8156448" y="3749040"/>
            <a:ext cx="402336" cy="402336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</a:rPr>
              <a:t>5</a:t>
            </a:r>
            <a:endParaRPr dirty="0" sz="1200" lang="en-US"/>
          </a:p>
        </p:txBody>
      </p:sp>
      <p:sp>
        <p:nvSpPr>
          <p:cNvPr id="1048942" name="Shape 52"/>
          <p:cNvSpPr/>
          <p:nvPr/>
        </p:nvSpPr>
        <p:spPr>
          <a:xfrm>
            <a:off x="320040" y="4315968"/>
            <a:ext cx="8503920" cy="68580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43" name="Shape 53"/>
          <p:cNvSpPr/>
          <p:nvPr/>
        </p:nvSpPr>
        <p:spPr>
          <a:xfrm>
            <a:off x="320040" y="4315968"/>
            <a:ext cx="45720" cy="68580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44" name="Text 54"/>
          <p:cNvSpPr/>
          <p:nvPr/>
        </p:nvSpPr>
        <p:spPr>
          <a:xfrm>
            <a:off x="502920" y="4315968"/>
            <a:ext cx="82296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05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Difficulty Scaling:  Level 1 (0pts) → Level 2 (500pts) → Level 3 (1500pts) → Level 4 (3000pts) → Level 5 (5000pts) — Speed increases up to 22 km/h</a:t>
            </a:r>
            <a:endParaRPr dirty="0" sz="105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8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49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0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1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2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3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4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5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6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7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58" name="Shape 10"/>
          <p:cNvSpPr/>
          <p:nvPr/>
        </p:nvSpPr>
        <p:spPr>
          <a:xfrm>
            <a:off x="365760" y="228600"/>
            <a:ext cx="1280160" cy="2926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59" name="Text 11"/>
          <p:cNvSpPr/>
          <p:nvPr/>
        </p:nvSpPr>
        <p:spPr>
          <a:xfrm>
            <a:off x="365760" y="228600"/>
            <a:ext cx="128016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000" lang="en-US">
                <a:solidFill>
                  <a:srgbClr val="FFFFFF"/>
                </a:solidFill>
              </a:rPr>
              <a:t>STRUCTURE</a:t>
            </a:r>
            <a:endParaRPr dirty="0" sz="1000" lang="en-US"/>
          </a:p>
        </p:txBody>
      </p:sp>
      <p:sp>
        <p:nvSpPr>
          <p:cNvPr id="1048960" name="Text 12"/>
          <p:cNvSpPr/>
          <p:nvPr/>
        </p:nvSpPr>
        <p:spPr>
          <a:xfrm>
            <a:off x="365760" y="566928"/>
            <a:ext cx="8229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File Structure</a:t>
            </a:r>
            <a:endParaRPr dirty="0" sz="3600" lang="en-US"/>
          </a:p>
        </p:txBody>
      </p:sp>
      <p:sp>
        <p:nvSpPr>
          <p:cNvPr id="1048961" name="Shape 13"/>
          <p:cNvSpPr/>
          <p:nvPr/>
        </p:nvSpPr>
        <p:spPr>
          <a:xfrm>
            <a:off x="320040" y="1325880"/>
            <a:ext cx="4846320" cy="3611880"/>
          </a:xfrm>
          <a:prstGeom prst="rect"/>
          <a:solidFill>
            <a:srgbClr val="0A0F1E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62" name="Text 14"/>
          <p:cNvSpPr/>
          <p:nvPr/>
        </p:nvSpPr>
        <p:spPr>
          <a:xfrm>
            <a:off x="502920" y="1417320"/>
            <a:ext cx="4572000" cy="3429000"/>
          </a:xfrm>
          <a:prstGeom prst="rect"/>
          <a:noFill/>
        </p:spPr>
        <p:txBody>
          <a:bodyPr anchor="t" rtlCol="0" wrap="square"/>
          <a:p>
            <a:pPr indent="0" marL="0">
              <a:buNone/>
            </a:pPr>
            <a:r>
              <a:rPr b="1" dirty="0" sz="980" lang="en-US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BikeRacingGame/</a:t>
            </a:r>
            <a:endParaRPr dirty="0" sz="980" lang="en-US"/>
          </a:p>
          <a:p>
            <a:pPr indent="0" marL="0">
              <a:buNone/>
            </a:pPr>
            <a:r>
              <a:rPr b="1" dirty="0" sz="980" lang="en-US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java/com/.../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ui/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SplashActivity.java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HomeActivity.java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GameOverActivity.java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game/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GameView.java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GameThread.java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GameManager.java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objects/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PlayerBike, EnemyBike, Road...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effects/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ExplosionEffect, SpeedLines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SoundManager, CollisionDetector</a:t>
            </a:r>
            <a:endParaRPr dirty="0" sz="980" lang="en-US"/>
          </a:p>
          <a:p>
            <a:pPr indent="0" marL="0">
              <a:buNone/>
            </a:pPr>
            <a:r>
              <a:rPr dirty="0" sz="980" lang="en-US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res/ drawable, layout, values</a:t>
            </a:r>
            <a:endParaRPr dirty="0" sz="980" lang="en-US"/>
          </a:p>
        </p:txBody>
      </p:sp>
      <p:sp>
        <p:nvSpPr>
          <p:cNvPr id="1048963" name="Shape 15"/>
          <p:cNvSpPr/>
          <p:nvPr/>
        </p:nvSpPr>
        <p:spPr>
          <a:xfrm>
            <a:off x="5303520" y="1325880"/>
            <a:ext cx="35204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64" name="Shape 16"/>
          <p:cNvSpPr/>
          <p:nvPr/>
        </p:nvSpPr>
        <p:spPr>
          <a:xfrm>
            <a:off x="5303520" y="1325880"/>
            <a:ext cx="45720" cy="749808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65" name="Text 17"/>
          <p:cNvSpPr/>
          <p:nvPr/>
        </p:nvSpPr>
        <p:spPr>
          <a:xfrm>
            <a:off x="5440680" y="1371600"/>
            <a:ext cx="1280160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dirty="0" sz="3000" lang="en-US"/>
          </a:p>
        </p:txBody>
      </p:sp>
      <p:sp>
        <p:nvSpPr>
          <p:cNvPr id="1048966" name="Text 18"/>
          <p:cNvSpPr/>
          <p:nvPr/>
        </p:nvSpPr>
        <p:spPr>
          <a:xfrm>
            <a:off x="6720840" y="1508760"/>
            <a:ext cx="20116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Classes</a:t>
            </a:r>
            <a:endParaRPr dirty="0" sz="1400" lang="en-US"/>
          </a:p>
        </p:txBody>
      </p:sp>
      <p:sp>
        <p:nvSpPr>
          <p:cNvPr id="1048967" name="Shape 19"/>
          <p:cNvSpPr/>
          <p:nvPr/>
        </p:nvSpPr>
        <p:spPr>
          <a:xfrm>
            <a:off x="5303520" y="2221992"/>
            <a:ext cx="35204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68" name="Shape 20"/>
          <p:cNvSpPr/>
          <p:nvPr/>
        </p:nvSpPr>
        <p:spPr>
          <a:xfrm>
            <a:off x="5303520" y="2221992"/>
            <a:ext cx="45720" cy="749808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8969" name="Text 21"/>
          <p:cNvSpPr/>
          <p:nvPr/>
        </p:nvSpPr>
        <p:spPr>
          <a:xfrm>
            <a:off x="5440680" y="2267712"/>
            <a:ext cx="1280160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dirty="0" sz="3000" lang="en-US"/>
          </a:p>
        </p:txBody>
      </p:sp>
      <p:sp>
        <p:nvSpPr>
          <p:cNvPr id="1048970" name="Text 22"/>
          <p:cNvSpPr/>
          <p:nvPr/>
        </p:nvSpPr>
        <p:spPr>
          <a:xfrm>
            <a:off x="6720840" y="2404872"/>
            <a:ext cx="20116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Game Assets</a:t>
            </a:r>
            <a:endParaRPr dirty="0" sz="1400" lang="en-US"/>
          </a:p>
        </p:txBody>
      </p:sp>
      <p:sp>
        <p:nvSpPr>
          <p:cNvPr id="1048971" name="Shape 23"/>
          <p:cNvSpPr/>
          <p:nvPr/>
        </p:nvSpPr>
        <p:spPr>
          <a:xfrm>
            <a:off x="5303520" y="3118104"/>
            <a:ext cx="35204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72" name="Shape 24"/>
          <p:cNvSpPr/>
          <p:nvPr/>
        </p:nvSpPr>
        <p:spPr>
          <a:xfrm>
            <a:off x="5303520" y="3118104"/>
            <a:ext cx="45720" cy="749808"/>
          </a:xfrm>
          <a:prstGeom prst="rect"/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8973" name="Text 25"/>
          <p:cNvSpPr/>
          <p:nvPr/>
        </p:nvSpPr>
        <p:spPr>
          <a:xfrm>
            <a:off x="5440680" y="3163824"/>
            <a:ext cx="1280160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6A1B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dirty="0" sz="3000" lang="en-US"/>
          </a:p>
        </p:txBody>
      </p:sp>
      <p:sp>
        <p:nvSpPr>
          <p:cNvPr id="1048974" name="Text 26"/>
          <p:cNvSpPr/>
          <p:nvPr/>
        </p:nvSpPr>
        <p:spPr>
          <a:xfrm>
            <a:off x="6720840" y="3300984"/>
            <a:ext cx="20116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Screens</a:t>
            </a:r>
            <a:endParaRPr dirty="0" sz="1400" lang="en-US"/>
          </a:p>
        </p:txBody>
      </p:sp>
      <p:sp>
        <p:nvSpPr>
          <p:cNvPr id="1048975" name="Shape 27"/>
          <p:cNvSpPr/>
          <p:nvPr/>
        </p:nvSpPr>
        <p:spPr>
          <a:xfrm>
            <a:off x="5303520" y="4014216"/>
            <a:ext cx="3520440" cy="74980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76" name="Shape 28"/>
          <p:cNvSpPr/>
          <p:nvPr/>
        </p:nvSpPr>
        <p:spPr>
          <a:xfrm>
            <a:off x="5303520" y="4014216"/>
            <a:ext cx="45720" cy="749808"/>
          </a:xfrm>
          <a:prstGeom prst="rect"/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48977" name="Text 29"/>
          <p:cNvSpPr/>
          <p:nvPr/>
        </p:nvSpPr>
        <p:spPr>
          <a:xfrm>
            <a:off x="5440680" y="4059936"/>
            <a:ext cx="1280160" cy="65836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3000" lang="en-US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dirty="0" sz="3000" lang="en-US"/>
          </a:p>
        </p:txBody>
      </p:sp>
      <p:sp>
        <p:nvSpPr>
          <p:cNvPr id="1048978" name="Text 30"/>
          <p:cNvSpPr/>
          <p:nvPr/>
        </p:nvSpPr>
        <p:spPr>
          <a:xfrm>
            <a:off x="6720840" y="4197096"/>
            <a:ext cx="201168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Target</a:t>
            </a:r>
            <a:endParaRPr dirty="0" sz="1400" lang="en-US"/>
          </a:p>
        </p:txBody>
      </p:sp>
      <p:sp>
        <p:nvSpPr>
          <p:cNvPr id="1048979" name="Shape 31"/>
          <p:cNvSpPr/>
          <p:nvPr/>
        </p:nvSpPr>
        <p:spPr>
          <a:xfrm>
            <a:off x="5303520" y="4919472"/>
            <a:ext cx="3520440" cy="475488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8980" name="Shape 32"/>
          <p:cNvSpPr/>
          <p:nvPr/>
        </p:nvSpPr>
        <p:spPr>
          <a:xfrm>
            <a:off x="5303520" y="4919472"/>
            <a:ext cx="3520440" cy="475488"/>
          </a:xfrm>
          <a:prstGeom prst="rect"/>
          <a:solidFill>
            <a:srgbClr val="FF6D00">
              <a:alpha val="1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8981" name="Text 33"/>
          <p:cNvSpPr/>
          <p:nvPr/>
        </p:nvSpPr>
        <p:spPr>
          <a:xfrm>
            <a:off x="5349240" y="4919472"/>
            <a:ext cx="3429000" cy="47548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050" lang="en-US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~2,000+ lines of clean Java code</a:t>
            </a:r>
            <a:endParaRPr dirty="0" sz="105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5" name="Shape 0"/>
          <p:cNvSpPr/>
          <p:nvPr/>
        </p:nvSpPr>
        <p:spPr>
          <a:xfrm>
            <a:off x="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86" name="Shape 1"/>
          <p:cNvSpPr/>
          <p:nvPr/>
        </p:nvSpPr>
        <p:spPr>
          <a:xfrm>
            <a:off x="914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87" name="Shape 2"/>
          <p:cNvSpPr/>
          <p:nvPr/>
        </p:nvSpPr>
        <p:spPr>
          <a:xfrm>
            <a:off x="1828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88" name="Shape 3"/>
          <p:cNvSpPr/>
          <p:nvPr/>
        </p:nvSpPr>
        <p:spPr>
          <a:xfrm>
            <a:off x="2743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89" name="Shape 4"/>
          <p:cNvSpPr/>
          <p:nvPr/>
        </p:nvSpPr>
        <p:spPr>
          <a:xfrm>
            <a:off x="3657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0" name="Shape 5"/>
          <p:cNvSpPr/>
          <p:nvPr/>
        </p:nvSpPr>
        <p:spPr>
          <a:xfrm>
            <a:off x="45720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1" name="Shape 6"/>
          <p:cNvSpPr/>
          <p:nvPr/>
        </p:nvSpPr>
        <p:spPr>
          <a:xfrm>
            <a:off x="54864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2" name="Shape 7"/>
          <p:cNvSpPr/>
          <p:nvPr/>
        </p:nvSpPr>
        <p:spPr>
          <a:xfrm>
            <a:off x="64008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3" name="Shape 8"/>
          <p:cNvSpPr/>
          <p:nvPr/>
        </p:nvSpPr>
        <p:spPr>
          <a:xfrm>
            <a:off x="73152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4" name="Shape 9"/>
          <p:cNvSpPr/>
          <p:nvPr/>
        </p:nvSpPr>
        <p:spPr>
          <a:xfrm>
            <a:off x="8229600" y="0"/>
            <a:ext cx="0" cy="5143500"/>
          </a:xfrm>
          <a:prstGeom prst="line"/>
          <a:noFill/>
          <a:ln w="6350">
            <a:solidFill>
              <a:srgbClr val="1F2937"/>
            </a:solidFill>
            <a:prstDash val="solid"/>
          </a:ln>
        </p:spPr>
      </p:sp>
      <p:sp>
        <p:nvSpPr>
          <p:cNvPr id="1048995" name="Shape 10"/>
          <p:cNvSpPr/>
          <p:nvPr/>
        </p:nvSpPr>
        <p:spPr>
          <a:xfrm>
            <a:off x="-9144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8996" name="Shape 11"/>
          <p:cNvSpPr/>
          <p:nvPr/>
        </p:nvSpPr>
        <p:spPr>
          <a:xfrm>
            <a:off x="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8997" name="Shape 12"/>
          <p:cNvSpPr/>
          <p:nvPr/>
        </p:nvSpPr>
        <p:spPr>
          <a:xfrm>
            <a:off x="9144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8998" name="Shape 13"/>
          <p:cNvSpPr/>
          <p:nvPr/>
        </p:nvSpPr>
        <p:spPr>
          <a:xfrm>
            <a:off x="18288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8999" name="Shape 14"/>
          <p:cNvSpPr/>
          <p:nvPr/>
        </p:nvSpPr>
        <p:spPr>
          <a:xfrm>
            <a:off x="27432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0" name="Shape 15"/>
          <p:cNvSpPr/>
          <p:nvPr/>
        </p:nvSpPr>
        <p:spPr>
          <a:xfrm>
            <a:off x="36576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1" name="Shape 16"/>
          <p:cNvSpPr/>
          <p:nvPr/>
        </p:nvSpPr>
        <p:spPr>
          <a:xfrm>
            <a:off x="45720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2" name="Shape 17"/>
          <p:cNvSpPr/>
          <p:nvPr/>
        </p:nvSpPr>
        <p:spPr>
          <a:xfrm>
            <a:off x="54864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3" name="Shape 18"/>
          <p:cNvSpPr/>
          <p:nvPr/>
        </p:nvSpPr>
        <p:spPr>
          <a:xfrm>
            <a:off x="64008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4" name="Shape 19"/>
          <p:cNvSpPr/>
          <p:nvPr/>
        </p:nvSpPr>
        <p:spPr>
          <a:xfrm>
            <a:off x="73152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5" name="Shape 20"/>
          <p:cNvSpPr/>
          <p:nvPr/>
        </p:nvSpPr>
        <p:spPr>
          <a:xfrm>
            <a:off x="82296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6" name="Shape 21"/>
          <p:cNvSpPr/>
          <p:nvPr/>
        </p:nvSpPr>
        <p:spPr>
          <a:xfrm>
            <a:off x="9144000" y="0"/>
            <a:ext cx="731520" cy="5143500"/>
          </a:xfrm>
          <a:prstGeom prst="line"/>
          <a:noFill/>
          <a:ln w="3810">
            <a:solidFill>
              <a:srgbClr val="FF6D00">
                <a:alpha val="15000"/>
              </a:srgbClr>
            </a:solidFill>
            <a:prstDash val="solid"/>
          </a:ln>
        </p:spPr>
      </p:sp>
      <p:sp>
        <p:nvSpPr>
          <p:cNvPr id="1049007" name="Shape 22"/>
          <p:cNvSpPr/>
          <p:nvPr/>
        </p:nvSpPr>
        <p:spPr>
          <a:xfrm>
            <a:off x="0" y="0"/>
            <a:ext cx="164592" cy="514350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9008" name="Shape 23"/>
          <p:cNvSpPr/>
          <p:nvPr/>
        </p:nvSpPr>
        <p:spPr>
          <a:xfrm>
            <a:off x="6492240" y="2468880"/>
            <a:ext cx="1005840" cy="1005840"/>
          </a:xfrm>
          <a:prstGeom prst="ellipse"/>
          <a:solidFill>
            <a:srgbClr val="222222"/>
          </a:solidFill>
          <a:ln w="38100">
            <a:solidFill>
              <a:srgbClr val="444444"/>
            </a:solidFill>
            <a:prstDash val="solid"/>
          </a:ln>
        </p:spPr>
      </p:sp>
      <p:sp>
        <p:nvSpPr>
          <p:cNvPr id="1049009" name="Shape 24"/>
          <p:cNvSpPr/>
          <p:nvPr/>
        </p:nvSpPr>
        <p:spPr>
          <a:xfrm>
            <a:off x="8046720" y="2468880"/>
            <a:ext cx="1005840" cy="1005840"/>
          </a:xfrm>
          <a:prstGeom prst="ellipse"/>
          <a:solidFill>
            <a:srgbClr val="222222"/>
          </a:solidFill>
          <a:ln w="38100">
            <a:solidFill>
              <a:srgbClr val="444444"/>
            </a:solidFill>
            <a:prstDash val="solid"/>
          </a:ln>
        </p:spPr>
      </p:sp>
      <p:sp>
        <p:nvSpPr>
          <p:cNvPr id="1049010" name="Shape 25"/>
          <p:cNvSpPr/>
          <p:nvPr/>
        </p:nvSpPr>
        <p:spPr>
          <a:xfrm>
            <a:off x="6675120" y="1920240"/>
            <a:ext cx="1965960" cy="64008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9011" name="Shape 26"/>
          <p:cNvSpPr/>
          <p:nvPr/>
        </p:nvSpPr>
        <p:spPr>
          <a:xfrm>
            <a:off x="7040880" y="1325880"/>
            <a:ext cx="1097280" cy="822960"/>
          </a:xfrm>
          <a:prstGeom prst="ellipse"/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49012" name="Shape 27"/>
          <p:cNvSpPr/>
          <p:nvPr/>
        </p:nvSpPr>
        <p:spPr>
          <a:xfrm>
            <a:off x="7269480" y="777240"/>
            <a:ext cx="594360" cy="685800"/>
          </a:xfrm>
          <a:prstGeom prst="ellipse"/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49013" name="Shape 28"/>
          <p:cNvSpPr/>
          <p:nvPr/>
        </p:nvSpPr>
        <p:spPr>
          <a:xfrm>
            <a:off x="7315200" y="502920"/>
            <a:ext cx="502920" cy="475488"/>
          </a:xfrm>
          <a:prstGeom prst="ellipse"/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49014" name="Shape 29"/>
          <p:cNvSpPr/>
          <p:nvPr/>
        </p:nvSpPr>
        <p:spPr>
          <a:xfrm>
            <a:off x="6035040" y="2880360"/>
            <a:ext cx="594360" cy="256032"/>
          </a:xfrm>
          <a:prstGeom prst="ellipse"/>
          <a:solidFill>
            <a:srgbClr val="FF6D00">
              <a:alpha val="75000"/>
            </a:srgbClr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9015" name="Text 30"/>
          <p:cNvSpPr/>
          <p:nvPr/>
        </p:nvSpPr>
        <p:spPr>
          <a:xfrm>
            <a:off x="457200" y="1005840"/>
            <a:ext cx="5943600" cy="12801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72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dirty="0" sz="7200" lang="en-US"/>
          </a:p>
        </p:txBody>
      </p:sp>
      <p:sp>
        <p:nvSpPr>
          <p:cNvPr id="1049016" name="Text 31"/>
          <p:cNvSpPr/>
          <p:nvPr/>
        </p:nvSpPr>
        <p:spPr>
          <a:xfrm>
            <a:off x="457200" y="2286000"/>
            <a:ext cx="59436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 Rush — Bike Racing Game</a:t>
            </a:r>
            <a:endParaRPr dirty="0" sz="2200" lang="en-US"/>
          </a:p>
        </p:txBody>
      </p:sp>
      <p:sp>
        <p:nvSpPr>
          <p:cNvPr id="1049017" name="Text 32"/>
          <p:cNvSpPr/>
          <p:nvPr/>
        </p:nvSpPr>
        <p:spPr>
          <a:xfrm>
            <a:off x="457200" y="2880360"/>
            <a:ext cx="5943600" cy="34747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4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Java + Android Studio</a:t>
            </a:r>
            <a:endParaRPr dirty="0" sz="1400" lang="en-US"/>
          </a:p>
        </p:txBody>
      </p:sp>
      <p:sp>
        <p:nvSpPr>
          <p:cNvPr id="1049018" name="Shape 33"/>
          <p:cNvSpPr/>
          <p:nvPr/>
        </p:nvSpPr>
        <p:spPr>
          <a:xfrm>
            <a:off x="457200" y="3429000"/>
            <a:ext cx="1691640" cy="86868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9019" name="Shape 34"/>
          <p:cNvSpPr/>
          <p:nvPr/>
        </p:nvSpPr>
        <p:spPr>
          <a:xfrm>
            <a:off x="457200" y="3429000"/>
            <a:ext cx="45720" cy="868680"/>
          </a:xfrm>
          <a:prstGeom prst="rect"/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049020" name="Text 35"/>
          <p:cNvSpPr/>
          <p:nvPr/>
        </p:nvSpPr>
        <p:spPr>
          <a:xfrm>
            <a:off x="548640" y="3474720"/>
            <a:ext cx="15087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Android</a:t>
            </a:r>
            <a:endParaRPr dirty="0" sz="2000" lang="en-US"/>
          </a:p>
        </p:txBody>
      </p:sp>
      <p:sp>
        <p:nvSpPr>
          <p:cNvPr id="1049021" name="Text 36"/>
          <p:cNvSpPr/>
          <p:nvPr/>
        </p:nvSpPr>
        <p:spPr>
          <a:xfrm>
            <a:off x="548640" y="3886200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dirty="0" sz="900" lang="en-US"/>
          </a:p>
        </p:txBody>
      </p:sp>
      <p:sp>
        <p:nvSpPr>
          <p:cNvPr id="1049022" name="Shape 37"/>
          <p:cNvSpPr/>
          <p:nvPr/>
        </p:nvSpPr>
        <p:spPr>
          <a:xfrm>
            <a:off x="2377440" y="3429000"/>
            <a:ext cx="1691640" cy="86868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9023" name="Shape 38"/>
          <p:cNvSpPr/>
          <p:nvPr/>
        </p:nvSpPr>
        <p:spPr>
          <a:xfrm>
            <a:off x="2377440" y="3429000"/>
            <a:ext cx="45720" cy="868680"/>
          </a:xfrm>
          <a:prstGeom prst="rect"/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49024" name="Text 39"/>
          <p:cNvSpPr/>
          <p:nvPr/>
        </p:nvSpPr>
        <p:spPr>
          <a:xfrm>
            <a:off x="2468880" y="3474720"/>
            <a:ext cx="15087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</a:t>
            </a:r>
            <a:endParaRPr dirty="0" sz="2000" lang="en-US"/>
          </a:p>
        </p:txBody>
      </p:sp>
      <p:sp>
        <p:nvSpPr>
          <p:cNvPr id="1049025" name="Text 40"/>
          <p:cNvSpPr/>
          <p:nvPr/>
        </p:nvSpPr>
        <p:spPr>
          <a:xfrm>
            <a:off x="2468880" y="3886200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dirty="0" sz="900" lang="en-US"/>
          </a:p>
        </p:txBody>
      </p:sp>
      <p:sp>
        <p:nvSpPr>
          <p:cNvPr id="1049026" name="Shape 41"/>
          <p:cNvSpPr/>
          <p:nvPr/>
        </p:nvSpPr>
        <p:spPr>
          <a:xfrm>
            <a:off x="4297680" y="3429000"/>
            <a:ext cx="1691640" cy="868680"/>
          </a:xfrm>
          <a:prstGeom prst="rect"/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40000"/>
              </a:srgbClr>
            </a:outerShdw>
          </a:effectLst>
        </p:spPr>
      </p:sp>
      <p:sp>
        <p:nvSpPr>
          <p:cNvPr id="1049027" name="Shape 42"/>
          <p:cNvSpPr/>
          <p:nvPr/>
        </p:nvSpPr>
        <p:spPr>
          <a:xfrm>
            <a:off x="4297680" y="3429000"/>
            <a:ext cx="45720" cy="868680"/>
          </a:xfrm>
          <a:prstGeom prst="rect"/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49028" name="Text 43"/>
          <p:cNvSpPr/>
          <p:nvPr/>
        </p:nvSpPr>
        <p:spPr>
          <a:xfrm>
            <a:off x="4389120" y="3474720"/>
            <a:ext cx="1508760" cy="41148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dirty="0" sz="2000" lang="en-US"/>
          </a:p>
        </p:txBody>
      </p:sp>
      <p:sp>
        <p:nvSpPr>
          <p:cNvPr id="1049029" name="Text 44"/>
          <p:cNvSpPr/>
          <p:nvPr/>
        </p:nvSpPr>
        <p:spPr>
          <a:xfrm>
            <a:off x="4389120" y="3886200"/>
            <a:ext cx="1508760" cy="32004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900" lang="en-US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dirty="0" sz="900" lang="en-US"/>
          </a:p>
        </p:txBody>
      </p:sp>
      <p:sp>
        <p:nvSpPr>
          <p:cNvPr id="1049030" name="Shape 45"/>
          <p:cNvSpPr/>
          <p:nvPr/>
        </p:nvSpPr>
        <p:spPr>
          <a:xfrm>
            <a:off x="0" y="4663440"/>
            <a:ext cx="9144000" cy="480060"/>
          </a:xfrm>
          <a:prstGeom prst="rect"/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49031" name="Text 46"/>
          <p:cNvSpPr/>
          <p:nvPr/>
        </p:nvSpPr>
        <p:spPr>
          <a:xfrm>
            <a:off x="274320" y="4663440"/>
            <a:ext cx="8595360" cy="4800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dirty="0" sz="1000" lang="en-US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  |  Mobile Application Development  |  Moto Rush Project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Moto Rush - Bike Racing Game</dc:title>
  <dc:creator>Student</dc:creator>
  <cp:lastModifiedBy>Student</cp:lastModifiedBy>
  <dcterms:created xsi:type="dcterms:W3CDTF">2026-06-06T06:39:56Z</dcterms:created>
  <dcterms:modified xsi:type="dcterms:W3CDTF">2026-06-06T16:49:50Z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e3842e07c50f4327ba483c67168d3587</vt:lpwstr>
  </property>
</Properties>
</file>